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9d5bb22d614e42" /><Relationship Type="http://schemas.openxmlformats.org/officeDocument/2006/relationships/extended-properties" Target="/docProps/app.xml" Id="R14bca7ba4a7e467b" /><Relationship Type="http://schemas.openxmlformats.org/officeDocument/2006/relationships/officeDocument" Target="/ppt/presentation.xml" Id="R3087100171814e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53dc5a44804301"/>
  </p:sldMasterIdLst>
  <p:notesMasterIdLst>
    <p:notesMasterId xmlns:r="http://schemas.openxmlformats.org/officeDocument/2006/relationships" r:id="R115052c7bd504fef"/>
  </p:notesMasterIdLst>
  <p:sldIdLst>
    <p:sldId xmlns:r="http://schemas.openxmlformats.org/officeDocument/2006/relationships" id="256" r:id="Rcb4651d1320f47b4"/>
    <p:sldId xmlns:r="http://schemas.openxmlformats.org/officeDocument/2006/relationships" id="257" r:id="R3a589d91945e4027"/>
    <p:sldId xmlns:r="http://schemas.openxmlformats.org/officeDocument/2006/relationships" id="258" r:id="Rfdb5a1285bba4516"/>
    <p:sldId xmlns:r="http://schemas.openxmlformats.org/officeDocument/2006/relationships" id="259" r:id="R76424e026822411f"/>
    <p:sldId xmlns:r="http://schemas.openxmlformats.org/officeDocument/2006/relationships" id="260" r:id="Rb09486e321204df3"/>
    <p:sldId xmlns:r="http://schemas.openxmlformats.org/officeDocument/2006/relationships" id="261" r:id="R6f8875ea2123460c"/>
    <p:sldId xmlns:r="http://schemas.openxmlformats.org/officeDocument/2006/relationships" id="262" r:id="R8b1758d24d284daa"/>
    <p:sldId xmlns:r="http://schemas.openxmlformats.org/officeDocument/2006/relationships" id="263" r:id="R6ec7df6da5684bf2"/>
    <p:sldId xmlns:r="http://schemas.openxmlformats.org/officeDocument/2006/relationships" id="264" r:id="Rd1c8b26683ad4854"/>
    <p:sldId xmlns:r="http://schemas.openxmlformats.org/officeDocument/2006/relationships" id="265" r:id="R71e06f9e2ca04162"/>
    <p:sldId xmlns:r="http://schemas.openxmlformats.org/officeDocument/2006/relationships" id="266" r:id="R5118bb0d514f42e4"/>
    <p:sldId xmlns:r="http://schemas.openxmlformats.org/officeDocument/2006/relationships" id="267" r:id="Rb3677d1e59574af2"/>
    <p:sldId xmlns:r="http://schemas.openxmlformats.org/officeDocument/2006/relationships" id="268" r:id="R82d86de973074679"/>
    <p:sldId xmlns:r="http://schemas.openxmlformats.org/officeDocument/2006/relationships" id="269" r:id="Rf3833d300ce4405f"/>
    <p:sldId xmlns:r="http://schemas.openxmlformats.org/officeDocument/2006/relationships" id="270" r:id="Ra84171dd953046bf"/>
    <p:sldId xmlns:r="http://schemas.openxmlformats.org/officeDocument/2006/relationships" id="271" r:id="R2adac77c2bb94cec"/>
    <p:sldId xmlns:r="http://schemas.openxmlformats.org/officeDocument/2006/relationships" id="272" r:id="R19d897f0a3d844f9"/>
    <p:sldId xmlns:r="http://schemas.openxmlformats.org/officeDocument/2006/relationships" id="273" r:id="R45fa28d210494267"/>
    <p:sldId xmlns:r="http://schemas.openxmlformats.org/officeDocument/2006/relationships" id="274" r:id="Rd423295928964f9f"/>
    <p:sldId xmlns:r="http://schemas.openxmlformats.org/officeDocument/2006/relationships" id="275" r:id="R76343eb8d3ae4d16"/>
    <p:sldId xmlns:r="http://schemas.openxmlformats.org/officeDocument/2006/relationships" id="276" r:id="Raeb549407a484ebf"/>
    <p:sldId xmlns:r="http://schemas.openxmlformats.org/officeDocument/2006/relationships" id="277" r:id="R3b107710ddd94eac"/>
    <p:sldId xmlns:r="http://schemas.openxmlformats.org/officeDocument/2006/relationships" id="278" r:id="Rcd1777073d99420c"/>
    <p:sldId xmlns:r="http://schemas.openxmlformats.org/officeDocument/2006/relationships" id="279" r:id="R5568828d71754449"/>
    <p:sldId xmlns:r="http://schemas.openxmlformats.org/officeDocument/2006/relationships" id="280" r:id="R4a4e0cede9a44e8d"/>
    <p:sldId xmlns:r="http://schemas.openxmlformats.org/officeDocument/2006/relationships" id="281" r:id="R0ed77e52896b4a6c"/>
    <p:sldId xmlns:r="http://schemas.openxmlformats.org/officeDocument/2006/relationships" id="282" r:id="Re75f327d9dbc4200"/>
    <p:sldId xmlns:r="http://schemas.openxmlformats.org/officeDocument/2006/relationships" id="283" r:id="R9ebfcbcd680b4cf1"/>
    <p:sldId xmlns:r="http://schemas.openxmlformats.org/officeDocument/2006/relationships" id="284" r:id="Re749fd9a12ec420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df4380cd787470c" /><Relationship Type="http://schemas.openxmlformats.org/officeDocument/2006/relationships/slideMaster" Target="/ppt/slideMasters/slideMaster1.xml" Id="Rd753dc5a44804301" /><Relationship Type="http://schemas.openxmlformats.org/officeDocument/2006/relationships/notesMaster" Target="/ppt/notesMasters/notesMaster1.xml" Id="R115052c7bd504fef" /><Relationship Type="http://schemas.openxmlformats.org/officeDocument/2006/relationships/presProps" Target="/ppt/presProps.xml" Id="Rb8e0b4c87405468d" /><Relationship Type="http://schemas.openxmlformats.org/officeDocument/2006/relationships/tableStyles" Target="/ppt/tableStyles.xml" Id="Rc0d1a1b77e3c4f90" /><Relationship Type="http://schemas.openxmlformats.org/officeDocument/2006/relationships/slide" Target="/ppt/slides/slide1.xml" Id="Rcb4651d1320f47b4" /><Relationship Type="http://schemas.openxmlformats.org/officeDocument/2006/relationships/slide" Target="/ppt/slides/slide2.xml" Id="R3a589d91945e4027" /><Relationship Type="http://schemas.openxmlformats.org/officeDocument/2006/relationships/slide" Target="/ppt/slides/slide3.xml" Id="Rfdb5a1285bba4516" /><Relationship Type="http://schemas.openxmlformats.org/officeDocument/2006/relationships/slide" Target="/ppt/slides/slide4.xml" Id="R76424e026822411f" /><Relationship Type="http://schemas.openxmlformats.org/officeDocument/2006/relationships/slide" Target="/ppt/slides/slide5.xml" Id="Rb09486e321204df3" /><Relationship Type="http://schemas.openxmlformats.org/officeDocument/2006/relationships/slide" Target="/ppt/slides/slide6.xml" Id="R6f8875ea2123460c" /><Relationship Type="http://schemas.openxmlformats.org/officeDocument/2006/relationships/slide" Target="/ppt/slides/slide7.xml" Id="R8b1758d24d284daa" /><Relationship Type="http://schemas.openxmlformats.org/officeDocument/2006/relationships/slide" Target="/ppt/slides/slide8.xml" Id="R6ec7df6da5684bf2" /><Relationship Type="http://schemas.openxmlformats.org/officeDocument/2006/relationships/slide" Target="/ppt/slides/slide9.xml" Id="Rd1c8b26683ad4854" /><Relationship Type="http://schemas.openxmlformats.org/officeDocument/2006/relationships/slide" Target="/ppt/slides/slide10.xml" Id="R71e06f9e2ca04162" /><Relationship Type="http://schemas.openxmlformats.org/officeDocument/2006/relationships/slide" Target="/ppt/slides/slide11.xml" Id="R5118bb0d514f42e4" /><Relationship Type="http://schemas.openxmlformats.org/officeDocument/2006/relationships/slide" Target="/ppt/slides/slide12.xml" Id="Rb3677d1e59574af2" /><Relationship Type="http://schemas.openxmlformats.org/officeDocument/2006/relationships/slide" Target="/ppt/slides/slide13.xml" Id="R82d86de973074679" /><Relationship Type="http://schemas.openxmlformats.org/officeDocument/2006/relationships/slide" Target="/ppt/slides/slide14.xml" Id="Rf3833d300ce4405f" /><Relationship Type="http://schemas.openxmlformats.org/officeDocument/2006/relationships/slide" Target="/ppt/slides/slide15.xml" Id="Ra84171dd953046bf" /><Relationship Type="http://schemas.openxmlformats.org/officeDocument/2006/relationships/slide" Target="/ppt/slides/slide16.xml" Id="R2adac77c2bb94cec" /><Relationship Type="http://schemas.openxmlformats.org/officeDocument/2006/relationships/slide" Target="/ppt/slides/slide17.xml" Id="R19d897f0a3d844f9" /><Relationship Type="http://schemas.openxmlformats.org/officeDocument/2006/relationships/slide" Target="/ppt/slides/slide18.xml" Id="R45fa28d210494267" /><Relationship Type="http://schemas.openxmlformats.org/officeDocument/2006/relationships/slide" Target="/ppt/slides/slide19.xml" Id="Rd423295928964f9f" /><Relationship Type="http://schemas.openxmlformats.org/officeDocument/2006/relationships/slide" Target="/ppt/slides/slide20.xml" Id="R76343eb8d3ae4d16" /><Relationship Type="http://schemas.openxmlformats.org/officeDocument/2006/relationships/slide" Target="/ppt/slides/slide21.xml" Id="Raeb549407a484ebf" /><Relationship Type="http://schemas.openxmlformats.org/officeDocument/2006/relationships/slide" Target="/ppt/slides/slide22.xml" Id="R3b107710ddd94eac" /><Relationship Type="http://schemas.openxmlformats.org/officeDocument/2006/relationships/slide" Target="/ppt/slides/slide23.xml" Id="Rcd1777073d99420c" /><Relationship Type="http://schemas.openxmlformats.org/officeDocument/2006/relationships/slide" Target="/ppt/slides/slide24.xml" Id="R5568828d71754449" /><Relationship Type="http://schemas.openxmlformats.org/officeDocument/2006/relationships/slide" Target="/ppt/slides/slide25.xml" Id="R4a4e0cede9a44e8d" /><Relationship Type="http://schemas.openxmlformats.org/officeDocument/2006/relationships/slide" Target="/ppt/slides/slide26.xml" Id="R0ed77e52896b4a6c" /><Relationship Type="http://schemas.openxmlformats.org/officeDocument/2006/relationships/slide" Target="/ppt/slides/slide27.xml" Id="Re75f327d9dbc4200" /><Relationship Type="http://schemas.openxmlformats.org/officeDocument/2006/relationships/slide" Target="/ppt/slides/slide28.xml" Id="R9ebfcbcd680b4cf1" /><Relationship Type="http://schemas.openxmlformats.org/officeDocument/2006/relationships/slide" Target="/ppt/slides/slide29.xml" Id="Re749fd9a12ec42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27276e23abf45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53576f209fa431c" /><Relationship Type="http://schemas.openxmlformats.org/officeDocument/2006/relationships/notesMaster" Target="/ppt/notesMasters/notesMaster1.xml" Id="Rf3e9c40444bf417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8d7a8b444d24764" /><Relationship Type="http://schemas.openxmlformats.org/officeDocument/2006/relationships/notesMaster" Target="/ppt/notesMasters/notesMaster1.xml" Id="R5ce8c56601544ed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a9a5d8cd5ba46cc" /><Relationship Type="http://schemas.openxmlformats.org/officeDocument/2006/relationships/notesMaster" Target="/ppt/notesMasters/notesMaster1.xml" Id="Rf646a1d3aa2347d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4c93a2ddafd420d" /><Relationship Type="http://schemas.openxmlformats.org/officeDocument/2006/relationships/notesMaster" Target="/ppt/notesMasters/notesMaster1.xml" Id="Rc8981726893e480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2607420790b41ff" /><Relationship Type="http://schemas.openxmlformats.org/officeDocument/2006/relationships/notesMaster" Target="/ppt/notesMasters/notesMaster1.xml" Id="Rc262373296ab4fa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297880a792f45c7" /><Relationship Type="http://schemas.openxmlformats.org/officeDocument/2006/relationships/notesMaster" Target="/ppt/notesMasters/notesMaster1.xml" Id="Rd6894f41f097408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e43b2ae3dad4094" /><Relationship Type="http://schemas.openxmlformats.org/officeDocument/2006/relationships/notesMaster" Target="/ppt/notesMasters/notesMaster1.xml" Id="Rdcbd290ddb00492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572356c34fa46c1" /><Relationship Type="http://schemas.openxmlformats.org/officeDocument/2006/relationships/notesMaster" Target="/ppt/notesMasters/notesMaster1.xml" Id="Re9b0fc460e4442d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9466d94c2d24432" /><Relationship Type="http://schemas.openxmlformats.org/officeDocument/2006/relationships/notesMaster" Target="/ppt/notesMasters/notesMaster1.xml" Id="Rf31e35c110f34cf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9a36e70580a4371" /><Relationship Type="http://schemas.openxmlformats.org/officeDocument/2006/relationships/notesMaster" Target="/ppt/notesMasters/notesMaster1.xml" Id="R257a6f5aaa62436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3a3476e91d641ae" /><Relationship Type="http://schemas.openxmlformats.org/officeDocument/2006/relationships/notesMaster" Target="/ppt/notesMasters/notesMaster1.xml" Id="R6dbf4ac50c5b40f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8e7ae7419774dc0" /><Relationship Type="http://schemas.openxmlformats.org/officeDocument/2006/relationships/notesMaster" Target="/ppt/notesMasters/notesMaster1.xml" Id="Ra52365f2b52442c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4c0b79db5b54167" /><Relationship Type="http://schemas.openxmlformats.org/officeDocument/2006/relationships/notesMaster" Target="/ppt/notesMasters/notesMaster1.xml" Id="R60ddae8afd6e4f0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d41c86f8a7543df" /><Relationship Type="http://schemas.openxmlformats.org/officeDocument/2006/relationships/notesMaster" Target="/ppt/notesMasters/notesMaster1.xml" Id="R1deee6b190154ca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2673d33943d4ff0" /><Relationship Type="http://schemas.openxmlformats.org/officeDocument/2006/relationships/notesMaster" Target="/ppt/notesMasters/notesMaster1.xml" Id="R1b14c471fb5548f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c66d48670f4474c" /><Relationship Type="http://schemas.openxmlformats.org/officeDocument/2006/relationships/notesMaster" Target="/ppt/notesMasters/notesMaster1.xml" Id="R563f260f31e14e4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5fb3eca68314faa" /><Relationship Type="http://schemas.openxmlformats.org/officeDocument/2006/relationships/notesMaster" Target="/ppt/notesMasters/notesMaster1.xml" Id="R8b6c7a37a62645b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87b60411837489d" /><Relationship Type="http://schemas.openxmlformats.org/officeDocument/2006/relationships/notesMaster" Target="/ppt/notesMasters/notesMaster1.xml" Id="R28a8b445037b45f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c15e11aabe44891" /><Relationship Type="http://schemas.openxmlformats.org/officeDocument/2006/relationships/notesMaster" Target="/ppt/notesMasters/notesMaster1.xml" Id="Rcf7997708b644a9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3518e2d67ac4b68" /><Relationship Type="http://schemas.openxmlformats.org/officeDocument/2006/relationships/notesMaster" Target="/ppt/notesMasters/notesMaster1.xml" Id="R57f2abdddd1c4d9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ab9c8ffd03a4c68" /><Relationship Type="http://schemas.openxmlformats.org/officeDocument/2006/relationships/notesMaster" Target="/ppt/notesMasters/notesMaster1.xml" Id="R9edb77cc9504454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0fcc36c80e547f0" /><Relationship Type="http://schemas.openxmlformats.org/officeDocument/2006/relationships/notesMaster" Target="/ppt/notesMasters/notesMaster1.xml" Id="R6186fcb6b598452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0e68d33607648db" /><Relationship Type="http://schemas.openxmlformats.org/officeDocument/2006/relationships/notesMaster" Target="/ppt/notesMasters/notesMaster1.xml" Id="Rb5e1fa1b4758450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a51800b775b48c6" /><Relationship Type="http://schemas.openxmlformats.org/officeDocument/2006/relationships/notesMaster" Target="/ppt/notesMasters/notesMaster1.xml" Id="R77bb26b5692f46a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eff3d71d34f48d8" /><Relationship Type="http://schemas.openxmlformats.org/officeDocument/2006/relationships/notesMaster" Target="/ppt/notesMasters/notesMaster1.xml" Id="R1922470a187f4b7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682b063ca7649e1" /><Relationship Type="http://schemas.openxmlformats.org/officeDocument/2006/relationships/notesMaster" Target="/ppt/notesMasters/notesMaster1.xml" Id="R6fb484f45a15474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01eb7f048844bbf" /><Relationship Type="http://schemas.openxmlformats.org/officeDocument/2006/relationships/notesMaster" Target="/ppt/notesMasters/notesMaster1.xml" Id="Rbe92ca83138f448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152e2af054e4989" /><Relationship Type="http://schemas.openxmlformats.org/officeDocument/2006/relationships/notesMaster" Target="/ppt/notesMasters/notesMaster1.xml" Id="R1bbc2c7d83fc4df4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50c7820c6837498d" /><Relationship Type="http://schemas.openxmlformats.org/officeDocument/2006/relationships/notesMaster" Target="/ppt/notesMasters/notesMaster1.xml" Id="Rb37a4c3f2d724e5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時間：2 分鐘。先展示今天的完成作品，說明本堂只處理 HTML，不加入 CSS。讓學生知道畫面會保留瀏覽器預設樣式。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時間：2 分鐘。交代全堂採短講與立即實作，不會連續講解很久。提醒學生先建立 examples 或 week03 資料夾。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時間：2 分鐘。用最終作品說明各概念不是孤立的標籤，而是逐步組成一張完整網頁。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時間：4 分鐘。用房屋比喻說明三種技術的分工。詢問學生：若沒有 CSS，HTML 是否仍能顯示？答案是可以。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時間：10 分鐘。逐行輸入，不要一次貼完。讓學生同步建立 index.html，存檔後用瀏覽器開啟。強調 head 放設定，body 放可見內容。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時間：7 分鐘。先讓學生指出開始標籤、結束標籤與內容，再補充屬性寫在開始標籤內。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時間：8 分鐘。用括號配對或收納盒比喻。讓學生修正錯誤範例，再在編輯器中使用格式化功能觀察縮排。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時間：8 分鐘。示範 h1 到 h3 的層級。提醒不要依照預設字體大小選標籤，應依內容關係選擇。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時間：7 分鐘。請學生判斷課程內容適合 ul，操作步驟適合 ol。補充 br 的使用界線。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時間：8 分鐘。示範外部連結與頁面內跳轉。請學生實際點擊，確認 id 與 href 拼字完全一致。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時間：7 分鐘。可故意改錯檔名，讓學生觀察圖片載入失敗時 alt 的作用。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時間：15 分鐘。前 2 分鐘說明任務，後 13 分鐘學生實作。教師巡視時優先檢查檔案是否存成 .html，以及標籤是否配對。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時間：包含在實作一的檢查。請學生對照自己的瀏覽器畫面，確認內容順序與層級。這張截圖由 Chrome 實際載入 examples/activity-basic.html 取得。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時間：10 分鐘。前 5 分鐘同儕檢查，後 5 分鐘休息。教師收集常見錯誤，休息後統一說明。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時間：6 分鐘。強調兩段 HTML 可能看起來相似，但第二段能表達區域用途。避免把語意化標籤誤解為自動美化工具。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時間：6 分鐘。從最外層 body 開始口頭走訪結構。請學生說出每一區最適合的標籤，並討論 section 與 aside 的差異。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時間：11 分鐘。帶學生把實作一改成語意結構。每加一個外層標籤就立即確認結束標籤位置。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時間：2 分鐘。這張截圖由 Chrome 實際載入 examples/activity-semantic.html 取得。提醒學生不要用『看起來沒變』判斷語意標籤沒有作用。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時間：4 分鐘。說明表單的角色與本堂範圍。action 使用 # 只是示範，不代表正式資料處理方式。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時間：6 分鐘。現場點擊 label 文字驗證配對。特別比較 id 與 name，它們用途不同，初學者最容易混淆。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時間：5 分鐘。每個 type 都在瀏覽器快速示範。說明 HTML 驗證能協助使用者，但正式網站仍需要伺服器端驗證。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時間：5 分鐘。詢問學生：參加方式能否同時選實體與線上？用需求決定 radio 或 checkbox，而不是依外觀決定。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時間：5 分鐘。說明 fieldset 不只是畫框，也為相關欄位建立群組語意。提醒 textarea 的預設文字不寫在 value。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時間：23 分鐘。先讓學生完成最小版本，再加入 autocomplete、maxlength 等屬性。教師先協助無法顯示欄位的學生。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時間：2 分鐘。兩張截圖由 Chrome 實際載入 examples/activity-form.html 取得，未套用任何 CSS。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時間：6 分鐘。全班一起測試。請學生故意犯錯，觀察瀏覽器將焦點移到第一個不符合條件的欄位。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時間：4 分鐘。依學生速度分流。重點是能說明欄位需求與所選 HTML 元素的關係。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時間：3 分鐘。可採隨機點名或兩人互答。答案重點：body、替代資訊、主要與補充內容、id、相同 name、阻止未完成欄位送出。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時間：2 分鐘。提醒作業仍不要求 CSS。收件時先用瀏覽器操作，再查看原始碼與語意結構。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b509fe9c00475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ad3d538982d4c1c" /><Relationship Type="http://schemas.openxmlformats.org/officeDocument/2006/relationships/slideLayout" Target="/ppt/slideLayouts/slideLayout1.xml" Id="R1fae29d6e8e9419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ae29d6e8e9419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5bd2a3f8cc4693" /><Relationship Type="http://schemas.openxmlformats.org/officeDocument/2006/relationships/notesSlide" Target="/ppt/notesSlides/notesSlide1.xml" Id="R3d71c17781a2450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389ff453e44df5" /><Relationship Type="http://schemas.openxmlformats.org/officeDocument/2006/relationships/notesSlide" Target="/ppt/notesSlides/notesSlide2.xml" Id="Rd86743355c71443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4cf99f644240c8" /><Relationship Type="http://schemas.openxmlformats.org/officeDocument/2006/relationships/notesSlide" Target="/ppt/notesSlides/notesSlide3.xml" Id="R04adf435644843b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93b1ec5ed34dc8" /><Relationship Type="http://schemas.openxmlformats.org/officeDocument/2006/relationships/notesSlide" Target="/ppt/notesSlides/notesSlide4.xml" Id="Rd5702dc6eaac4d5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4b7d837e274f5b" /><Relationship Type="http://schemas.openxmlformats.org/officeDocument/2006/relationships/notesSlide" Target="/ppt/notesSlides/notesSlide5.xml" Id="Rd9051daed3824f9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79b3b4f35a4bc0" /><Relationship Type="http://schemas.openxmlformats.org/officeDocument/2006/relationships/notesSlide" Target="/ppt/notesSlides/notesSlide6.xml" Id="R052a1cb67b75450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0fd7407697482f" /><Relationship Type="http://schemas.openxmlformats.org/officeDocument/2006/relationships/notesSlide" Target="/ppt/notesSlides/notesSlide7.xml" Id="R79b96b87e2044f1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a854f4d58c425f" /><Relationship Type="http://schemas.openxmlformats.org/officeDocument/2006/relationships/notesSlide" Target="/ppt/notesSlides/notesSlide8.xml" Id="Rdcfb6044cc5a44b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3949cedcee47c3" /><Relationship Type="http://schemas.openxmlformats.org/officeDocument/2006/relationships/notesSlide" Target="/ppt/notesSlides/notesSlide9.xml" Id="Rcb6c9ea64b9d41a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5d7c2c6c1d46b2" /><Relationship Type="http://schemas.openxmlformats.org/officeDocument/2006/relationships/notesSlide" Target="/ppt/notesSlides/notesSlide10.xml" Id="Rcae8874fc502484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5f0016b1b44fd2" /><Relationship Type="http://schemas.openxmlformats.org/officeDocument/2006/relationships/notesSlide" Target="/ppt/notesSlides/notesSlide11.xml" Id="Ref8d29add2934ec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e6860eb9574823" /><Relationship Type="http://schemas.openxmlformats.org/officeDocument/2006/relationships/notesSlide" Target="/ppt/notesSlides/notesSlide12.xml" Id="Rdfc8d16563374fb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fb73ed24ba4411" /><Relationship Type="http://schemas.openxmlformats.org/officeDocument/2006/relationships/image" Target="/ppt/media/image.png" Id="Re81d6a6baffc4ad1" /><Relationship Type="http://schemas.openxmlformats.org/officeDocument/2006/relationships/notesSlide" Target="/ppt/notesSlides/notesSlide13.xml" Id="R9fbf9030c0664c0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062daaf30f467d" /><Relationship Type="http://schemas.openxmlformats.org/officeDocument/2006/relationships/notesSlide" Target="/ppt/notesSlides/notesSlide14.xml" Id="R2d1f999597cd486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e54a9652304864" /><Relationship Type="http://schemas.openxmlformats.org/officeDocument/2006/relationships/notesSlide" Target="/ppt/notesSlides/notesSlide15.xml" Id="Rfb2c870796d4407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e9f06f470c4223" /><Relationship Type="http://schemas.openxmlformats.org/officeDocument/2006/relationships/notesSlide" Target="/ppt/notesSlides/notesSlide16.xml" Id="R14f087ffe3a84ea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f4120ba2cd4d26" /><Relationship Type="http://schemas.openxmlformats.org/officeDocument/2006/relationships/notesSlide" Target="/ppt/notesSlides/notesSlide17.xml" Id="Rb6828291943e4c8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39277cdb274a2b" /><Relationship Type="http://schemas.openxmlformats.org/officeDocument/2006/relationships/image" Target="/ppt/media/image2.png" Id="R019b0ef890d64354" /><Relationship Type="http://schemas.openxmlformats.org/officeDocument/2006/relationships/notesSlide" Target="/ppt/notesSlides/notesSlide18.xml" Id="Rf7d62c95c975469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d37053fc734a50" /><Relationship Type="http://schemas.openxmlformats.org/officeDocument/2006/relationships/notesSlide" Target="/ppt/notesSlides/notesSlide19.xml" Id="R0e32b1dd8ea44e8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a42d142df94dea" /><Relationship Type="http://schemas.openxmlformats.org/officeDocument/2006/relationships/notesSlide" Target="/ppt/notesSlides/notesSlide20.xml" Id="Rbae26559df0a42a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a4907c76914464" /><Relationship Type="http://schemas.openxmlformats.org/officeDocument/2006/relationships/notesSlide" Target="/ppt/notesSlides/notesSlide21.xml" Id="R886dd5d666e640a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59fb0c3207487f" /><Relationship Type="http://schemas.openxmlformats.org/officeDocument/2006/relationships/notesSlide" Target="/ppt/notesSlides/notesSlide22.xml" Id="R396660f969f8413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b4b7b76bd243ae" /><Relationship Type="http://schemas.openxmlformats.org/officeDocument/2006/relationships/notesSlide" Target="/ppt/notesSlides/notesSlide23.xml" Id="R6024fff78f4c44c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dc905bffae4a9f" /><Relationship Type="http://schemas.openxmlformats.org/officeDocument/2006/relationships/notesSlide" Target="/ppt/notesSlides/notesSlide24.xml" Id="R820033dd7bef4ba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eaee86aaa44cfd" /><Relationship Type="http://schemas.openxmlformats.org/officeDocument/2006/relationships/image" Target="/ppt/media/image3.png" Id="R7f25e9563766474d" /><Relationship Type="http://schemas.openxmlformats.org/officeDocument/2006/relationships/image" Target="/ppt/media/image4.png" Id="Rdf92efde31804d1d" /><Relationship Type="http://schemas.openxmlformats.org/officeDocument/2006/relationships/notesSlide" Target="/ppt/notesSlides/notesSlide25.xml" Id="R0b89013fb8a946d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1cb55dcbb34071" /><Relationship Type="http://schemas.openxmlformats.org/officeDocument/2006/relationships/notesSlide" Target="/ppt/notesSlides/notesSlide26.xml" Id="R4b0fd03b4b0f4e9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12519ed6ab43a1" /><Relationship Type="http://schemas.openxmlformats.org/officeDocument/2006/relationships/notesSlide" Target="/ppt/notesSlides/notesSlide27.xml" Id="Rabe75609be2d46b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ba6b17e7b14fd6" /><Relationship Type="http://schemas.openxmlformats.org/officeDocument/2006/relationships/notesSlide" Target="/ppt/notesSlides/notesSlide28.xml" Id="Rc7ed9b4f98ea4cf7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fb96e587bb457b" /><Relationship Type="http://schemas.openxmlformats.org/officeDocument/2006/relationships/notesSlide" Target="/ppt/notesSlides/notesSlide29.xml" Id="Rb0842b41578b442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3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3CBB84-A133-451E-B404-E89F4B384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5F7E3C-16B8-495C-94C0-AED7E3744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93C6D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93C6D8"/>
                </a:solidFill>
                <a:latin typeface="Microsoft JhengHei"/>
                <a:ea typeface="Microsoft JhengHei"/>
                <a:cs typeface="Microsoft JhengHei"/>
              </a:rPr>
              <a:t>第三週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35DA4D-4BED-433E-BB3C-40F0C38E0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10287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HTML5 基礎、語意與表單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6DC066-75AE-4EE7-B347-D29E5F052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C8D7E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C8D7E1"/>
                </a:solidFill>
                <a:latin typeface="Microsoft JhengHei"/>
                <a:ea typeface="Microsoft JhengHei"/>
                <a:cs typeface="Microsoft JhengHei"/>
              </a:rPr>
              <a:t>3 小時講解與實作課程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6BA829-0DE8-4837-83AE-CA79C9E7F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638550"/>
            <a:ext cx="4286250" cy="217170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0B172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33152F-C306-4840-B875-4E266D8FC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8100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A48EDB-2AB1-4CC7-97BC-8C82161D7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8100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C46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AA156C-07A9-4609-A301-276EDD7AA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8100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2702C3-AB81-43AA-BB99-D8F9D168D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095750"/>
            <a:ext cx="38290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&lt;!DOCTYPE html&gt;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&lt;html lang="zh-Hant"&gt;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&lt;body&gt;從結構開始&lt;/body&gt;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&lt;/html&gt;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6A1449-0A68-4619-93CB-1B787DB8A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7690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4C3B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F4C3B7"/>
                </a:solidFill>
                <a:latin typeface="Microsoft JhengHei"/>
                <a:ea typeface="Microsoft JhengHei"/>
                <a:cs typeface="Microsoft JhengHei"/>
              </a:rPr>
              <a:t>課堂作品：前端入門工作坊活動報名頁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BAD134-CC9D-4EA7-AD4A-56D1C4CC5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網頁程式設計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BEF1F5-DDAA-4BDD-A81B-834546208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349291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697485-9872-471B-8D7E-5F7CC4D34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08DE41-80DF-4EAC-9E5D-F8B147EE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三小時課程節奏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6A6D1A-C440-427D-9005-24314520A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322A04-6659-46CE-B7D9-F84DDCCE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課程導覽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990E80-2D8D-4192-8E2B-B759F50D1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85D32B-B9D5-495D-9CCC-DF62EA9C8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33550"/>
            <a:ext cx="39052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F5D7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78DC00-0438-4D24-A02B-57B18C4A3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5265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rPr>
              <a:t>00:00–01:20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E63C05-3FA9-4231-80FA-BCAA540FC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905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基礎結構與常用標籤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49DF2B-479B-4996-9FC4-2EB64CE24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90900"/>
            <a:ext cx="3905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短講、同步操作、實作一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A9560D-DD18-4D84-A5CA-1BC5C55F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733550"/>
            <a:ext cx="2609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5166F3-462E-4E13-87AC-B7E80E1EB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152650"/>
            <a:ext cx="260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rPr>
              <a:t>01:20–01:30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91611E-109C-4246-B265-F744730A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47950"/>
            <a:ext cx="2609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互相檢查與休息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9A5678-786D-4D92-91A2-AB0ADDD72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390900"/>
            <a:ext cx="2609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檢查路徑、標籤與縮排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C34EAE-2321-4816-9A40-EDECE2298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733550"/>
            <a:ext cx="40576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D4A63D-DED6-4426-B7A8-15C87D437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152650"/>
            <a:ext cx="405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01:30–03:00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06E2C6-F83B-4924-AA35-1E7D5F4A6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647950"/>
            <a:ext cx="4057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語意化標籤與表單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ECEE58-66B5-48EA-9D20-7780CF3FA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390900"/>
            <a:ext cx="4057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重構、實作二、測試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6EF556-7261-4203-8139-A273A697F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291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rPr>
              <a:t>教學節奏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66CBA9-663B-4B2B-8DB2-BF60B2C8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673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說明 10–15 分鐘　示範 5 分鐘　學生立即動手　全班檢查</a:t>
            </a:r>
          </a:p>
        </p:txBody>
      </p:sp>
    </p:spTree>
    <p:extLst>
      <p:ext uri="{BB962C8B-B14F-4D97-AF65-F5344CB8AC3E}">
        <p14:creationId xmlns:p14="http://schemas.microsoft.com/office/powerpoint/2010/main" val="19917864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3B7995-DA70-4F49-9E96-EED7B450A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DBDA1A-6F3B-4AA8-9F07-E2425A0FD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今天完成一個可操作的報名頁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EF3EFB-28E7-406C-81BA-9979CA6E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A96CEE-0AB0-4207-8F63-500850B57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課程目標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18BABB-8A97-4057-B800-97C3FCC99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23AC9F-DB33-469D-95F7-36932F8C0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71625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學會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F1BEA8-795D-4B84-9344-AAD271F09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54292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建立正確的 HTML5 文件結構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使用標題、段落、清單、連結與圖片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用語意化標籤整理頁面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建立可驗證、可鍵盤操作的表單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AA2AC9-03BA-41F2-AC9E-A849E189E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466850"/>
            <a:ext cx="4476750" cy="3867150"/>
          </a:xfrm>
          <a:prstGeom xmlns:a="http://schemas.openxmlformats.org/drawingml/2006/main" prst="roundRect">
            <a:avLst>
              <a:gd name="adj" fmla="val 4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D70AE-51A5-4C00-9BC3-347C29633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8478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rPr>
              <a:t>課堂作品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629F35-0474-405E-9310-FDDB14BC1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24100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前端入門工作坊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8D12B5-F2B7-406C-9196-CD90D9EA1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105150"/>
            <a:ext cx="3143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活動介紹</a:t>
            </a:r>
          </a:p>
          <a:p xmlns:a="http://schemas.openxmlformats.org/drawingml/2006/main">
            <a:pPr>
              <a:defRPr sz="18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課程內容</a:t>
            </a:r>
          </a:p>
          <a:p xmlns:a="http://schemas.openxmlformats.org/drawingml/2006/main">
            <a:pPr>
              <a:defRPr sz="18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活動資訊</a:t>
            </a:r>
          </a:p>
          <a:p xmlns:a="http://schemas.openxmlformats.org/drawingml/2006/main">
            <a:pPr>
              <a:defRPr sz="18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報名表單</a:t>
            </a:r>
          </a:p>
          <a:p xmlns:a="http://schemas.openxmlformats.org/drawingml/2006/main">
            <a:pPr>
              <a:defRPr sz="18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頁尾資訊</a:t>
            </a:r>
          </a:p>
        </p:txBody>
      </p:sp>
    </p:spTree>
    <p:extLst>
      <p:ext uri="{BB962C8B-B14F-4D97-AF65-F5344CB8AC3E}">
        <p14:creationId xmlns:p14="http://schemas.microsoft.com/office/powerpoint/2010/main" val="2738703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D5CE3C-B653-47A4-B386-0405592FD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C3C85A-B443-4B28-9D9C-2AB153C01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HTML 負責內容與結構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B19929-F4D6-4736-9A5E-850A9A6E1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BE708-A7B9-468F-8DAC-BF497588A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HTML 基礎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39C1C1-57FB-44ED-8AF6-D0DA1CD82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D5DAB3-CD62-48A9-84AC-08B5BC27B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57350"/>
            <a:ext cx="2857500" cy="3143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8E59A5-15CE-4287-8593-0447BA4A0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57350"/>
            <a:ext cx="28575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B6E54D-3099-45BB-9A0D-96EFCA502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57400"/>
            <a:ext cx="2324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HTML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B30760-7ADC-45E9-A132-A76068433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19400"/>
            <a:ext cx="23241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標題、段落、圖片、表單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46AC8A-C865-41B2-A2B6-576B7C2C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9100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房屋結構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C5E3FA-79FE-4965-BBEC-0A449B03C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657350"/>
            <a:ext cx="2857500" cy="3143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F17100-7F62-4C81-BA69-D24A48824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657350"/>
            <a:ext cx="28575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D7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BD35D1-48A9-4199-AC37-10C9AD041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57400"/>
            <a:ext cx="2324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rPr>
              <a:t>CSS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E782C3-C9C3-49C5-891C-DD5BD34A2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19400"/>
            <a:ext cx="23241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顏色、字體、間距、版面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09FCE6-C4C0-4444-88CE-6D3CD52AE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19100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室內裝潢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B59402-54C6-42CF-BA76-110220D92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657350"/>
            <a:ext cx="2857500" cy="3143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92A61A-75DF-4B6E-90D9-8B27DC776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657350"/>
            <a:ext cx="28575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D60DEC-6120-44E9-A305-FCAFC604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57400"/>
            <a:ext cx="2324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rPr>
              <a:t>JavaScript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B8901F-4D0C-40CC-88E3-44A5B26FF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19400"/>
            <a:ext cx="23241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按鈕、資料更新、互動邏輯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B7BEF8-42BD-45A3-AC91-AF8AAD65C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19100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電器與機關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0D6C23-B808-4559-8B53-0DA6C2C24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34000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rPr>
              <a:t>本週先把內容結構寫對，樣式留到後續課程。</a:t>
            </a:r>
          </a:p>
        </p:txBody>
      </p:sp>
    </p:spTree>
    <p:extLst>
      <p:ext uri="{BB962C8B-B14F-4D97-AF65-F5344CB8AC3E}">
        <p14:creationId xmlns:p14="http://schemas.microsoft.com/office/powerpoint/2010/main" val="6192336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895268-20FD-4E50-AA8F-2FAABD8A7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AE3303-FEF5-4AD7-90E7-882DAC3E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HTML5 文件的最小結構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566A85-E011-4490-BAF7-05FF299F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D3528F-76E5-4E72-9219-D0F587C39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HTML 基礎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3023C9-E2E4-49C5-9CCE-B6CC9B0D9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3BD38C-0ADD-4121-B1C4-2E7CC9FE4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6858000" cy="4476750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14233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EA6CC8-DDBB-4E8E-A548-1EC52BB41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002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BF474A-ED5E-4F91-B5EF-E2DADFED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002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C46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AC2834-E6B0-44A8-AE83-27E67D504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6002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3876FC-B1B2-4E70-A082-E787CBDF4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64008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&lt;!DOCTYPE html&gt;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&lt;html lang="zh-Hant"&gt;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&lt;head&gt;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&lt;meta charset="UTF-8"&gt;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&lt;meta name="viewport" content="width=device-width, initial-scale=1.0"&gt;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&lt;title&gt;前端入門工作坊&lt;/title&gt;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&lt;/head&gt;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&lt;body&gt;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&lt;h1&gt;前端入門工作坊&lt;/h1&gt;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&lt;/body&gt;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&lt;/html&gt;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E10000-2172-436B-8C99-E43BC8D93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52400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瀏覽器需要知道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57357F-4F94-4F4D-A5F5-B5EC9D939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076450"/>
            <a:ext cx="3333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100"/>
              </a:spcAft>
              <a:buChar char="•"/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文件使用 HTML5</a:t>
            </a:r>
          </a:p>
          <a:p xmlns:a="http://schemas.openxmlformats.org/drawingml/2006/main">
            <a:pPr marL="254000" indent="-127000">
              <a:spcAft>
                <a:spcPts val="1100"/>
              </a:spcAft>
              <a:buChar char="•"/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主要語言是繁體中文</a:t>
            </a:r>
          </a:p>
          <a:p xmlns:a="http://schemas.openxmlformats.org/drawingml/2006/main">
            <a:pPr marL="254000" indent="-127000">
              <a:spcAft>
                <a:spcPts val="1100"/>
              </a:spcAft>
              <a:buChar char="•"/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文字編碼採 UTF-8</a:t>
            </a:r>
          </a:p>
          <a:p xmlns:a="http://schemas.openxmlformats.org/drawingml/2006/main">
            <a:pPr marL="254000" indent="-127000">
              <a:spcAft>
                <a:spcPts val="1100"/>
              </a:spcAft>
              <a:buChar char="•"/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手機如何縮放頁面</a:t>
            </a:r>
          </a:p>
          <a:p xmlns:a="http://schemas.openxmlformats.org/drawingml/2006/main">
            <a:pPr marL="254000" indent="-127000">
              <a:spcAft>
                <a:spcPts val="1100"/>
              </a:spcAft>
              <a:buChar char="•"/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分頁標題顯示什麼</a:t>
            </a:r>
          </a:p>
        </p:txBody>
      </p:sp>
    </p:spTree>
    <p:extLst>
      <p:ext uri="{BB962C8B-B14F-4D97-AF65-F5344CB8AC3E}">
        <p14:creationId xmlns:p14="http://schemas.microsoft.com/office/powerpoint/2010/main" val="8786844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1020CB-DB18-4FC9-A2CE-614CF53C7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C1595B-484B-4032-A1F6-DD211AB98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元素由標籤、內容與屬性組成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236CA4-DE8D-4493-9A14-4988B5B2B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1E2774-074C-4EBE-9942-228649BAA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HTML 基礎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49CD62-FAAB-4B57-8F80-3F82EAD82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BB581F-F077-4200-AC19-7DD981FBD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104394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14233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9D7415-9B26-4FF9-917A-27ED214F1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0B4408-2D1F-481B-B4BE-78A9B26E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8669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C46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16C59C-9513-44BC-A899-A88324C3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8669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10CEA5-1F7C-42A0-993A-CF385357F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9982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202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&lt;a href="https://example.com"&gt;前往活動網站&lt;/a&gt;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7A717A-EF19-4F07-8E9A-5FD8D281E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19500"/>
            <a:ext cx="171450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6343B5-F1CA-43C3-9EE3-6F1E0A3AB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290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開始標籤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D192A2-476D-4774-8460-BC9B88E4F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619500"/>
            <a:ext cx="240030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8D11E8-E77A-4A61-9F5D-8A130776D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82905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rPr>
              <a:t>屬性和值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8EE409-88B6-4013-AEE8-F96E02BF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19500"/>
            <a:ext cx="238125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AAE182-ADEE-4F7D-85BE-D4FE37BBB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82905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rPr>
              <a:t>元素內容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7648C8-EB74-411E-AB0B-E8FF32B16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619500"/>
            <a:ext cx="180975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5C9CA9-9911-43F1-B632-51731A183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82905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結束標籤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78084C-62B8-4F19-95B1-825D91773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53000"/>
            <a:ext cx="9791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href 告訴瀏覽器連結目的地，文字則告訴使用者點擊後會去哪裡。</a:t>
            </a:r>
          </a:p>
        </p:txBody>
      </p:sp>
    </p:spTree>
    <p:extLst>
      <p:ext uri="{BB962C8B-B14F-4D97-AF65-F5344CB8AC3E}">
        <p14:creationId xmlns:p14="http://schemas.microsoft.com/office/powerpoint/2010/main" val="13327315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882916-5F1B-4C9C-9632-94A71F957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0DDD16-F402-4A7B-9F7D-BFDA3D1C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巢狀順序決定文件是否清楚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99D99E-4B6D-4003-9552-CE5469BEF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7363B6-BC9B-451E-BAF9-9C2CC62E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HTML 基礎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A286A6-61E1-45B2-96D7-43B90236D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7A65F9-DD17-4231-9A79-BEC090C10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錯誤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F86640-6A00-43BB-AED1-D095B10D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51435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5B283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811B5C-0276-48B3-9068-32AE889AB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57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DB7F34-332D-4BA2-941E-D9F0A4A0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57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C46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36A058-EA72-4703-8611-62BC82204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057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846DA4-FDF2-42D5-88AC-5CFD7E3D7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4686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&lt;p&gt;歡迎參加&lt;strong&gt;前端課程&lt;/p&gt;&lt;/strong&gt;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59018E-F3C2-4ECD-A15F-89A6D6691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668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rPr>
              <a:t>正確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C8781D-D093-47D9-AE8E-30912B5DE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85950"/>
            <a:ext cx="51435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163B3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72E0EF-FBB6-40B5-8DC2-957EA9E49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57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AB0D04-0DBC-4020-9882-C1F1B732E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57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C46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DE83AD-5FD9-4279-87CD-2E415026F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57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983175-51EE-47A4-8077-6DE66E3AD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343150"/>
            <a:ext cx="4686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&lt;p&gt;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歡迎參加&lt;strong&gt;前端課程&lt;/strong&gt;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&lt;/p&gt;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AE293E-53B8-4FF1-A9F6-74FEE5CE5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像收納盒一樣，後開啟的標籤要先關閉。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4B2FC0-8165-431D-9F5C-AB4AE902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952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700"/>
              </a:spcAft>
              <a:buChar char="•"/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保持一致縮排</a:t>
            </a:r>
          </a:p>
          <a:p xmlns:a="http://schemas.openxmlformats.org/drawingml/2006/main">
            <a:pPr marL="254000" indent="-127000">
              <a:spcAft>
                <a:spcPts val="700"/>
              </a:spcAft>
              <a:buChar char="•"/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標籤使用小寫</a:t>
            </a:r>
          </a:p>
          <a:p xmlns:a="http://schemas.openxmlformats.org/drawingml/2006/main">
            <a:pPr marL="254000" indent="-127000">
              <a:spcAft>
                <a:spcPts val="700"/>
              </a:spcAft>
              <a:buChar char="•"/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檔名避免空白與特殊符號</a:t>
            </a:r>
          </a:p>
        </p:txBody>
      </p:sp>
    </p:spTree>
    <p:extLst>
      <p:ext uri="{BB962C8B-B14F-4D97-AF65-F5344CB8AC3E}">
        <p14:creationId xmlns:p14="http://schemas.microsoft.com/office/powerpoint/2010/main" val="16713559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270E40-18BE-43A3-9C99-4CF297A44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F7EC01-0841-484B-965C-EC7DDE8DE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標題呈現層級，段落承載內容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90DBB3-0A80-4E35-B82E-5B147FFBC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5C8570-D38B-4B7F-B11D-9D959FCD7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常用標籤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7ADB02-A3E3-476A-B6A8-75F315C34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C993BD-E835-4B4A-8AFA-133D6C657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647700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14233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143E51-BA70-4BEC-BE7F-7E976AD69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954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2752CC-D36E-4EA4-82AE-C2914DEAC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954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C46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29EC5C-7492-4B2E-A248-9DCE38888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6954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CB89F1-0EF0-4C39-A265-C497DD1CD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81200"/>
            <a:ext cx="601980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&lt;h1&gt;前端入門工作坊&lt;/h1&gt;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&lt;h2&gt;活動介紹&lt;/h2&gt;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&lt;p&gt;這是一場為初學者設計的工作坊。&lt;/p&gt;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&lt;p&gt;&lt;strong&gt;請攜帶筆記型電腦&lt;/strong&gt;。&lt;/p&gt;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8B324A-19A3-40EB-8279-FFE96C4C1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60020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標題不是放大文字的工具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C2B7FB-C315-4059-A462-7AD2AA458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324100"/>
            <a:ext cx="3714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900"/>
              </a:spcAft>
              <a:buChar char="•"/>
              <a:defRPr sz="165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h1 表示頁面的主要標題</a:t>
            </a:r>
          </a:p>
          <a:p xmlns:a="http://schemas.openxmlformats.org/drawingml/2006/main">
            <a:pPr marL="254000" indent="-127000">
              <a:spcAft>
                <a:spcPts val="900"/>
              </a:spcAft>
              <a:buChar char="•"/>
              <a:defRPr sz="165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h2 表示主要區段</a:t>
            </a:r>
          </a:p>
          <a:p xmlns:a="http://schemas.openxmlformats.org/drawingml/2006/main">
            <a:pPr marL="254000" indent="-127000">
              <a:spcAft>
                <a:spcPts val="900"/>
              </a:spcAft>
              <a:buChar char="•"/>
              <a:defRPr sz="165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p 表示一段文字</a:t>
            </a:r>
          </a:p>
          <a:p xmlns:a="http://schemas.openxmlformats.org/drawingml/2006/main">
            <a:pPr marL="254000" indent="-127000">
              <a:spcAft>
                <a:spcPts val="900"/>
              </a:spcAft>
              <a:buChar char="•"/>
              <a:defRPr sz="165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strong 表示內容很重要</a:t>
            </a:r>
          </a:p>
          <a:p xmlns:a="http://schemas.openxmlformats.org/drawingml/2006/main">
            <a:pPr marL="254000" indent="-127000">
              <a:spcAft>
                <a:spcPts val="900"/>
              </a:spcAft>
              <a:buChar char="•"/>
              <a:defRPr sz="165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em 表示語氣上的強調</a:t>
            </a:r>
          </a:p>
        </p:txBody>
      </p:sp>
    </p:spTree>
    <p:extLst>
      <p:ext uri="{BB962C8B-B14F-4D97-AF65-F5344CB8AC3E}">
        <p14:creationId xmlns:p14="http://schemas.microsoft.com/office/powerpoint/2010/main" val="15554388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94403E-3DEF-4216-B1C3-39A570372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FC8A02-70A2-4A0B-8D91-AB0DFCF7B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清單描述一組相關項目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4AB1EB-EC9D-454F-B761-221C523FF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59F95A-8FB7-4477-AE48-A3DCF6F05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常用標籤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9E0EDA-6E46-4A94-BC66-2DAB04FFF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23B923-5297-4165-8A66-6D6CDC9D2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rPr>
              <a:t>沒有先後順序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341BC6-F43A-4AEB-8D7D-0AA38684E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4953000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4233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BA32B7-315D-4BEF-A984-038A8A9BD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F40AC2-7247-4287-95C8-3381127FF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288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C46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290993-AFD8-4024-8948-D58A5FB99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2288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941E14-F042-41E2-AD18-5FB1A8F15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449580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&lt;ul&gt;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&lt;li&gt;HTML 基礎結構&lt;/li&gt;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&lt;li&gt;常用內容標籤&lt;/li&gt;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&lt;li&gt;HTML5 表單&lt;/li&gt;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&lt;/ul&gt;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A93E46-E529-475B-96F8-11843652C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240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rPr>
              <a:t>具有步驟順序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221E19-37BD-447D-B336-DEB84B5BF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57400"/>
            <a:ext cx="4953000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4233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362ED8-5029-419E-A2D1-35CCC62E5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288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11BE86-EAFE-4E5C-B881-E9275AD83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288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C46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4928E7-1740-4187-ADE4-5EF6C2B4F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288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CB7EA3-CAEA-445F-B3C1-E9314BAF3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14600"/>
            <a:ext cx="449580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&lt;ol&gt;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&lt;li&gt;填寫報名資料&lt;/li&gt;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&lt;li&gt;確認資料內容&lt;/li&gt;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&lt;li&gt;送出報名表單&lt;/li&gt;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&lt;/ol&gt;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D8BAB2-6519-4D41-9C70-4ECD7BE92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&lt;br&gt; 只處理內容本身需要換行的情況，不用它製作版面間距。</a:t>
            </a:r>
          </a:p>
        </p:txBody>
      </p:sp>
    </p:spTree>
    <p:extLst>
      <p:ext uri="{BB962C8B-B14F-4D97-AF65-F5344CB8AC3E}">
        <p14:creationId xmlns:p14="http://schemas.microsoft.com/office/powerpoint/2010/main" val="25178633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D2A6EB-C631-4817-BC0A-451BF4707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AF41C3-7858-4CD4-913D-AFE63AA98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連結可以前往外部網站或頁面內位置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B7A1B6-3D16-47C3-98D0-B3862A49C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C6768E-1E09-4D87-BE67-1EAC6E8DC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常用標籤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536627-98DD-426E-AB0F-DE1544CF7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27F800-1A01-4E58-8DDD-2C2F5379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rPr>
              <a:t>外部連結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D04272-C197-464A-ADA9-0A5A0E601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5124450" cy="194310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14233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9F61AD-4B73-4AD3-B7D5-968E59939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8676BB-6439-4DDB-A5CF-02787BA9D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907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C46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2132D5-BE6F-4BC7-84F4-5C3981C2D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907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9E97E6-E871-470B-9E48-5658EBE96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46672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&lt;a href="https://developer.mozilla.org/zh-TW/"&gt;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前往 MDN 學習 HTML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&lt;/a&gt;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00C7E7-D164-4D9D-9AC5-0001F0FAD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049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rPr>
              <a:t>頁面內連結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368244-6E05-42E2-BFA5-A2D7223EF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19300"/>
            <a:ext cx="5124450" cy="194310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14233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34B14E-B89D-4D86-B092-EDD34F195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907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E5C9C4-B496-453E-85A9-E1D1168F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1907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C46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4473CD-F6F1-4815-84EA-AF277C086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1907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3F6E9E-EE9C-47E0-9C68-21760BE8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76500"/>
            <a:ext cx="46672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&lt;a href="#register"&gt;前往報名&lt;/a&gt;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&lt;h2 id="register"&gt;活動報名&lt;/h2&gt;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7C1D9B-F940-46CB-A5E6-4A805642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1009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href="#register" 會尋找 id="register" 的元素。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AF2EFF-99CC-4571-92FA-2DBF754BF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若使用 target="_blank"，同時加入 rel="noopener noreferrer"。</a:t>
            </a:r>
          </a:p>
        </p:txBody>
      </p:sp>
    </p:spTree>
    <p:extLst>
      <p:ext uri="{BB962C8B-B14F-4D97-AF65-F5344CB8AC3E}">
        <p14:creationId xmlns:p14="http://schemas.microsoft.com/office/powerpoint/2010/main" val="94320507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F93EE3-832A-429B-B22C-EFBAC80A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421D9A-8AA3-4DDB-B1DA-3E8AF6830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圖片需要來源與替代文字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22894D-FA01-4FAB-9747-CA33F6D5D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364133-BAD1-4162-8FF5-495F17241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常用標籤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D5BCB2-655E-4CE6-A6EA-7D74F8B11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41D3DA-7830-460D-9BB4-B442F3D6D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657225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4233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4F3537-0809-4C61-960C-272E01529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145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5AAE6F-F4C4-4E06-A39C-9FD301F5B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145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C46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81C19F-0874-477F-A346-4F6A7AFD9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145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DACF34-EB1B-447C-B9B1-81C058134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6115050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6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&lt;img</a:t>
            </a:r>
          </a:p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6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src="images/workshop.jpg"</a:t>
            </a:r>
          </a:p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6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alt="學生在電腦教室參加前端工作坊"</a:t>
            </a:r>
          </a:p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6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width="600"</a:t>
            </a:r>
          </a:p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6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E93DE5-EA10-4C90-972E-3905EB4B6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638300"/>
            <a:ext cx="3486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alt 寫圖片傳達的資訊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F112DB-AE02-49B9-91CF-67C06707F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343150"/>
            <a:ext cx="3429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100"/>
              </a:spcAft>
              <a:buChar char="•"/>
              <a:defRPr sz="165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圖片無法載入時仍能理解內容</a:t>
            </a:r>
          </a:p>
          <a:p xmlns:a="http://schemas.openxmlformats.org/drawingml/2006/main">
            <a:pPr marL="254000" indent="-127000">
              <a:spcAft>
                <a:spcPts val="1100"/>
              </a:spcAft>
              <a:buChar char="•"/>
              <a:defRPr sz="165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螢幕閱讀器可朗讀替代文字</a:t>
            </a:r>
          </a:p>
          <a:p xmlns:a="http://schemas.openxmlformats.org/drawingml/2006/main">
            <a:pPr marL="254000" indent="-127000">
              <a:spcAft>
                <a:spcPts val="1100"/>
              </a:spcAft>
              <a:buChar char="•"/>
              <a:defRPr sz="165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裝飾圖片可使用空白 alt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226C4E-271F-4F56-8E29-32D058E71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rPr>
              <a:t>常見錯誤：路徑層級不對、檔名大小寫不同、圖片放錯資料夾。</a:t>
            </a:r>
          </a:p>
        </p:txBody>
      </p:sp>
    </p:spTree>
    <p:extLst>
      <p:ext uri="{BB962C8B-B14F-4D97-AF65-F5344CB8AC3E}">
        <p14:creationId xmlns:p14="http://schemas.microsoft.com/office/powerpoint/2010/main" val="164702096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39DEF9-FCDC-48DC-92D5-1FBD6D6E6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5AE484-DDAF-4BF4-BDB7-A8B6821FA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實作一：活動介紹頁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154B34-B2E2-459F-AF92-FBF132938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06C48A-DD1E-4D8F-8736-CCD5A1C1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學生實作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406988-286E-487A-90C5-C17A86D5B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FE3996-C5F0-4189-AE85-42E26BA9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478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15 分鐘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2914E3-7CC5-414D-BAF2-F8DCDB184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9800"/>
            <a:ext cx="5619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95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活動主標題與一段介紹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95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課程內容清單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95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活動日期、地點與費用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95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一個外部連結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95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一個可跳到報名區的頁面內連結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5750C7-BB04-41DA-A177-45CA65E6C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524000"/>
            <a:ext cx="4095750" cy="3524250"/>
          </a:xfrm>
          <a:prstGeom xmlns:a="http://schemas.openxmlformats.org/drawingml/2006/main" prst="roundRect">
            <a:avLst>
              <a:gd name="adj" fmla="val 4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9937E1-DBF6-4929-AF12-67945A6AB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8859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rPr>
              <a:t>完成前自我檢查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F81D9A-A636-435E-BB41-642B4D5D1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514600"/>
            <a:ext cx="3238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□ 只有一個主要 h1</a:t>
            </a:r>
          </a:p>
          <a:p xmlns:a="http://schemas.openxmlformats.org/drawingml/2006/main">
            <a:pPr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□ 標題層級合理</a:t>
            </a:r>
          </a:p>
          <a:p xmlns:a="http://schemas.openxmlformats.org/drawingml/2006/main">
            <a:pPr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□ 連結可以開啟</a:t>
            </a:r>
          </a:p>
          <a:p xmlns:a="http://schemas.openxmlformats.org/drawingml/2006/main">
            <a:pPr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□ 標籤正確關閉</a:t>
            </a:r>
          </a:p>
          <a:p xmlns:a="http://schemas.openxmlformats.org/drawingml/2006/main">
            <a:pPr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□ 程式碼縮排一致</a:t>
            </a:r>
          </a:p>
        </p:txBody>
      </p:sp>
    </p:spTree>
    <p:extLst>
      <p:ext uri="{BB962C8B-B14F-4D97-AF65-F5344CB8AC3E}">
        <p14:creationId xmlns:p14="http://schemas.microsoft.com/office/powerpoint/2010/main" val="148128640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E5DB58-21BF-48C4-8355-97FD6E77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8AB658-0030-4CDB-B1F5-D8545EB29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瀏覽器顯示的是 HTML 結構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0C80E8-59D9-45AA-BFC1-0C95E4E40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9D436D-FD28-4974-B0CD-4421629C1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實際呈現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BC0E7-C5DB-4D01-880A-E15C2CA17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1d6a6baffc4ad1"/>
          <a:stretch xmlns:a="http://schemas.openxmlformats.org/drawingml/2006/main"/>
        </p:blipFill>
        <p:spPr>
          <a:xfrm xmlns:a="http://schemas.openxmlformats.org/drawingml/2006/main">
            <a:off x="688975" y="1466850"/>
            <a:ext cx="7518400" cy="4229100"/>
          </a:xfrm>
          <a:prstGeom xmlns:a="http://schemas.openxmlformats.org/drawingml/2006/main" prst="roundRect">
            <a:avLst>
              <a:gd name="adj" fmla="val 315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412451-16C6-4C98-9D37-88C48479F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543050"/>
            <a:ext cx="2781300" cy="3429000"/>
          </a:xfrm>
          <a:prstGeom xmlns:a="http://schemas.openxmlformats.org/drawingml/2006/main" prst="roundRect">
            <a:avLst>
              <a:gd name="adj" fmla="val 61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19E614-ABF7-421E-A2AD-FBB808EB0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8595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沒有 CSS，仍然可以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3AE33D-ECED-48C8-8414-CD74F6842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24150"/>
            <a:ext cx="21907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800"/>
              </a:spcAft>
              <a:buChar char="•"/>
              <a:def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看出標題層級</a:t>
            </a:r>
          </a:p>
          <a:p xmlns:a="http://schemas.openxmlformats.org/drawingml/2006/main">
            <a:pPr marL="254000" indent="-127000">
              <a:spcAft>
                <a:spcPts val="800"/>
              </a:spcAft>
              <a:buChar char="•"/>
              <a:def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閱讀段落與清單</a:t>
            </a:r>
          </a:p>
          <a:p xmlns:a="http://schemas.openxmlformats.org/drawingml/2006/main">
            <a:pPr marL="254000" indent="-127000">
              <a:spcAft>
                <a:spcPts val="800"/>
              </a:spcAft>
              <a:buChar char="•"/>
              <a:def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點擊超連結</a:t>
            </a:r>
          </a:p>
          <a:p xmlns:a="http://schemas.openxmlformats.org/drawingml/2006/main">
            <a:pPr marL="254000" indent="-127000">
              <a:spcAft>
                <a:spcPts val="800"/>
              </a:spcAft>
              <a:buChar char="•"/>
              <a:def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跳到指定區段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D8BC61-2E27-43F7-B274-24D73B7C6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27685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rPr>
              <a:t>畫面樸素是正常的。</a:t>
            </a:r>
          </a:p>
        </p:txBody>
      </p:sp>
    </p:spTree>
    <p:extLst>
      <p:ext uri="{BB962C8B-B14F-4D97-AF65-F5344CB8AC3E}">
        <p14:creationId xmlns:p14="http://schemas.microsoft.com/office/powerpoint/2010/main" val="104546355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B9E1F1-4471-40A5-8A28-94B876CE9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20BFA6-7D5C-4AB0-AABC-6CCC23837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互相檢查與休息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8919AD-3978-4299-ABEF-46D1020BA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02FC25-1ABB-4B72-AFC1-C16B5D3A4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10 分鐘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9913A4-4902-47A3-AFC9-4911D3E12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6A3B33-964B-4119-AF05-24A3647D5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3355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rPr>
              <a:t>前 5 分鐘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0F55E1-5F3B-48E3-A3ED-DE2A4B7DD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43150"/>
            <a:ext cx="381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兩人交換測試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4BEC5-2243-41B3-9D87-F6A0C7967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24200"/>
            <a:ext cx="4191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指出一個做得好的地方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找出一個可能的錯誤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點擊所有連結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9DD437-BE9B-49C7-A0D4-9A221A355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00200"/>
            <a:ext cx="762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4D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97436B-F489-449E-B804-E7A9FC0CC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73355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rPr>
              <a:t>後 5 分鐘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D55D42-EBD8-4D36-A820-85A34EB3F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43150"/>
            <a:ext cx="381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離開座位休息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846FC4-B685-4528-B691-C41A66CC4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62300"/>
            <a:ext cx="3810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回來後，我們會把同一頁改成語意清楚的 HTML5 結構。</a:t>
            </a:r>
          </a:p>
        </p:txBody>
      </p:sp>
    </p:spTree>
    <p:extLst>
      <p:ext uri="{BB962C8B-B14F-4D97-AF65-F5344CB8AC3E}">
        <p14:creationId xmlns:p14="http://schemas.microsoft.com/office/powerpoint/2010/main" val="208699218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5A6008-6768-4CBC-ACC9-E748E1757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9A6420-7A16-4B84-8B94-4ED8EE97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語意化標籤說明內容的角色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6B6F8A-D898-436C-AE02-A90D7896C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A37466-A924-46A4-BFCB-C19D12E43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語意化 HTML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C40582-2045-4C6E-9A0F-FAF5092A1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9848C9-7EBB-4FB9-A69A-F94D7B490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可以執行，但意義不清楚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071900-EFD6-489C-9FB6-EF15A990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4953000" cy="2667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4B273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44E18F-18D0-4D23-926B-0926C5B45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098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3579E2-A0F3-4DFF-A3A8-8DF8C122D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098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C46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651804-9270-4C08-A766-96D3421AA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98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1381CD-9016-48F9-8D93-9499D3D82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4958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&lt;div&gt;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&lt;div&gt;前端入門工作坊&lt;/div&gt;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&lt;div&gt;活動介紹&lt;/div&gt;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&lt;div&gt;報名表單&lt;/div&gt;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&lt;/div&gt;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5FE8C3-F163-4A20-B5D4-5A80A2531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240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rPr>
              <a:t>結構直接寫出內容用途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E71795-4ADD-4849-8FB7-C582F94AF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38350"/>
            <a:ext cx="4953000" cy="2667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73B3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293612-30F8-48CF-BF03-E5BD793B6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098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CAE26A-FF51-4C39-909C-CC7924A9C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098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C46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81E70F-69D8-41CE-8417-9BD6F174A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098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06D305-A6B7-4E11-8100-56FAEA1F7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95550"/>
            <a:ext cx="44958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&lt;header&gt;...&lt;/header&gt;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&lt;main&gt;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&lt;section&gt;...&lt;/section&gt;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&lt;aside&gt;...&lt;/aside&gt;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&lt;/main&gt;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&lt;footer&gt;...&lt;/footer&gt;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D00741-4DFE-41B3-8FF7-EA1DD3287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清楚的語意有助於閱讀、維護、搜尋引擎與輔助工具。</a:t>
            </a:r>
          </a:p>
        </p:txBody>
      </p:sp>
    </p:spTree>
    <p:extLst>
      <p:ext uri="{BB962C8B-B14F-4D97-AF65-F5344CB8AC3E}">
        <p14:creationId xmlns:p14="http://schemas.microsoft.com/office/powerpoint/2010/main" val="63096212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DF2947-AA7C-4EE0-A68A-B4D4475C4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7D94B2-050B-495D-93BF-C2210217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活動頁面的語意結構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6D6F34-3DE0-4B51-B85B-9DB78BD5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6754A4-8549-4482-A325-4982AD039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語意化 HTML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B43F98-15D5-4901-A4C5-3E2C367E2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854931-FCCC-4574-978D-C15DDD26D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409700"/>
            <a:ext cx="581025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5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B9E653-8D6C-4954-9349-373C09C1A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581150"/>
            <a:ext cx="535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rPr>
              <a:t>header　網站標題與導覽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3C25A7-0757-491F-B091-6AF38B8C1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266950"/>
            <a:ext cx="581025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A9D8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ADC1C3-73C4-4538-9BE8-8F6092A02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38400"/>
            <a:ext cx="535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rPr>
              <a:t>main　頁面的主要內容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6CA67E-53AC-4933-995A-116AB8305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552950"/>
            <a:ext cx="581025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6F5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CF707A-2AB3-44D0-ADAF-05F805137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724400"/>
            <a:ext cx="535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footer　頁尾資訊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A72C06-B8B5-422C-9E2D-4914AA5E1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90850"/>
            <a:ext cx="15811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D9EFE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0A53F7-E2FD-4C86-BE87-1B542D33D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181350"/>
            <a:ext cx="1352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rPr>
              <a:t>section</a:t>
            </a:r>
          </a:p>
          <a:p xmlns:a="http://schemas.openxmlformats.org/drawingml/2006/main">
            <a:pPr algn="ctr">
              <a:defRPr sz="1575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rPr>
              <a:t>活動介紹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DD92C2-2A68-4212-B25F-2C0CD579A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990850"/>
            <a:ext cx="15811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D9EFE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AA38D6-E8E3-499D-8892-8F83E21A2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181350"/>
            <a:ext cx="1352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rPr>
              <a:t>section</a:t>
            </a:r>
          </a:p>
          <a:p xmlns:a="http://schemas.openxmlformats.org/drawingml/2006/main">
            <a:pPr algn="ctr">
              <a:defRPr sz="1575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rPr>
              <a:t>課程內容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DC8613-8001-425F-ABC2-DEA08357B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990850"/>
            <a:ext cx="15811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8DED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A3D533-B992-4C14-9C1D-DD0A42C3E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81350"/>
            <a:ext cx="1352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aside</a:t>
            </a:r>
          </a:p>
          <a:p xmlns:a="http://schemas.openxmlformats.org/drawingml/2006/main">
            <a:pPr algn="ctr">
              <a:defRPr sz="15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課前提醒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E4A1E4-A8BC-4B67-AC86-6287F8A7B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600700"/>
            <a:ext cx="8877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nav 放主要導覽　section 需要自己的主題　aside 放補充內容</a:t>
            </a:r>
          </a:p>
        </p:txBody>
      </p:sp>
    </p:spTree>
    <p:extLst>
      <p:ext uri="{BB962C8B-B14F-4D97-AF65-F5344CB8AC3E}">
        <p14:creationId xmlns:p14="http://schemas.microsoft.com/office/powerpoint/2010/main" val="139913810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F8585A-297E-4EBE-8F98-0EDF8DFF8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AD4A9A-3008-424B-953A-E4AEA406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用語意標籤重組原本內容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E2AC04-AA02-4052-8B81-A00CA75CD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75A582-7FF9-4C94-85AB-F3DF52080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語意化 HTML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ED70B8-3375-45FF-B8A5-D344FC266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617D6E-C441-4F73-86CE-3ED491EDA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6858000" cy="468630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14233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1FEFE5-E502-48B1-88F7-B7869EE0D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811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A988F8-7C95-4247-97F7-5F2F15508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5811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C46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2039EE-BE9B-45FC-B4ED-73C3F0ACB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5811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12A042-C87A-4F80-9082-5D9F0D08C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66900"/>
            <a:ext cx="6400800" cy="405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&lt;body&gt;</a:t>
            </a:r>
          </a:p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&lt;header&gt;</a:t>
            </a:r>
          </a:p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  &lt;h1&gt;前端入門工作坊&lt;/h1&gt;</a:t>
            </a:r>
          </a:p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  &lt;nav aria-label="主要導覽"&gt;...&lt;/nav&gt;</a:t>
            </a:r>
          </a:p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&lt;/header&gt;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&lt;main&gt;</a:t>
            </a:r>
          </a:p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  &lt;section id="about"&gt;...&lt;/section&gt;</a:t>
            </a:r>
          </a:p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  &lt;section id="schedule"&gt;...&lt;/section&gt;</a:t>
            </a:r>
          </a:p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  &lt;aside&gt;...&lt;/aside&gt;</a:t>
            </a:r>
          </a:p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  &lt;section id="register"&gt;...&lt;/section&gt;</a:t>
            </a:r>
          </a:p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&lt;/main&gt;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&lt;footer&gt;...&lt;/footer&gt;</a:t>
            </a:r>
          </a:p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&lt;/body&gt;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2E909C-7214-458F-A8B8-641009BC8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811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重構時檢查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676D48-C050-4B92-AC10-9281FCDB5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47900"/>
            <a:ext cx="31432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65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內容順序沒有改變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65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每個區段有明確標題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65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main 只包主要內容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65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導覽連結仍能跳轉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65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縮排反映巢狀關係</a:t>
            </a:r>
          </a:p>
        </p:txBody>
      </p:sp>
    </p:spTree>
    <p:extLst>
      <p:ext uri="{BB962C8B-B14F-4D97-AF65-F5344CB8AC3E}">
        <p14:creationId xmlns:p14="http://schemas.microsoft.com/office/powerpoint/2010/main" val="211514132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BAB80B-DC0E-49E4-8294-7BD164343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8D90BD-D050-4318-9A3D-57923110A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語意改變了結構，不一定改變外觀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9F9661-B7BB-473E-BE90-E98E247EC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B6F38A-46C2-4012-AAD2-A5516C670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實際呈現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8F7B87-ED97-4372-A410-0D31F0305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9b0ef890d64354"/>
          <a:stretch xmlns:a="http://schemas.openxmlformats.org/drawingml/2006/main"/>
        </p:blipFill>
        <p:spPr>
          <a:xfrm xmlns:a="http://schemas.openxmlformats.org/drawingml/2006/main">
            <a:off x="670983" y="1466850"/>
            <a:ext cx="7535333" cy="4238625"/>
          </a:xfrm>
          <a:prstGeom xmlns:a="http://schemas.openxmlformats.org/drawingml/2006/main" prst="roundRect">
            <a:avLst>
              <a:gd name="adj" fmla="val 3146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725A3C-AF74-49B8-9466-C9B3EFA4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6383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觀察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F55FDF-6FCD-4F99-B1EA-05FC713DA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209800"/>
            <a:ext cx="2428875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100"/>
              </a:spcAft>
              <a:buChar char="•"/>
              <a:def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導覽連結出現在頁首</a:t>
            </a:r>
          </a:p>
          <a:p xmlns:a="http://schemas.openxmlformats.org/drawingml/2006/main">
            <a:pPr marL="254000" indent="-127000">
              <a:spcAft>
                <a:spcPts val="1100"/>
              </a:spcAft>
              <a:buChar char="•"/>
              <a:def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各 section 仍由標題區隔</a:t>
            </a:r>
          </a:p>
          <a:p xmlns:a="http://schemas.openxmlformats.org/drawingml/2006/main">
            <a:pPr marL="254000" indent="-127000">
              <a:spcAft>
                <a:spcPts val="1100"/>
              </a:spcAft>
              <a:buChar char="•"/>
              <a:def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語意標籤沒有預設裝飾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611044-A36A-42A5-A153-34F21E1E4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914900"/>
            <a:ext cx="2743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rPr>
              <a:t>瀏覽器讀到更多意義，畫面仍保持預設樣式。</a:t>
            </a:r>
          </a:p>
        </p:txBody>
      </p:sp>
    </p:spTree>
    <p:extLst>
      <p:ext uri="{BB962C8B-B14F-4D97-AF65-F5344CB8AC3E}">
        <p14:creationId xmlns:p14="http://schemas.microsoft.com/office/powerpoint/2010/main" val="113804617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FF83A1-4FBE-45E9-AF34-D00D74BA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EDD00E-4D3C-45C3-99ED-E2345B432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form 包住要一起送出的欄位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6237A1-CC28-446D-9F47-ADE4E3D17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58FD24-C2BA-426F-87A5-717DEE2F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HTML5 表單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51347C-3EBF-4AF6-8E54-EB669DFF5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A1A7B4-9D5B-4DC7-A035-82410DD95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6286500" cy="23622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4233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C61027-0981-40CE-B765-268290568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A81843-45BE-4D0B-B035-885D8EA0B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C46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50B8D1-6949-4130-8BB7-EB6CF1D03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8669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EED624-B21E-4C5F-AAD0-A3991CFC8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52650"/>
            <a:ext cx="58293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&lt;form action="#" method="post"&gt;</a:t>
            </a:r>
          </a:p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&lt;!-- 表單欄位 --&gt;</a:t>
            </a:r>
          </a:p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&lt;button type="submit"&gt;送出報名&lt;/button&gt;</a:t>
            </a:r>
          </a:p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&lt;/form&gt;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C6812B-C679-4E41-A58A-CFE138FB3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7640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form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40D1BB-AFE1-4BDD-AF07-8686587B6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6764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表單容器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5CD2B5-40A7-44E6-8F42-4287CC0DD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431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rPr>
              <a:t>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4DCFF0-DED3-40D2-B0B4-BD6815806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431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資料送往哪裡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14D785-9CC6-4B8B-A2C2-82AE9E2B5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0990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rPr>
              <a:t>method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5D51BC-C602-4CD3-8FD6-0D92F585B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099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使用何種傳送方式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1F93F4-21B1-49C1-97DB-77964366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10553700" cy="819150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F8DED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112C5D-AFE3-4273-9529-F6AB66F68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33950"/>
            <a:ext cx="998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783C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783C2F"/>
                </a:solidFill>
                <a:latin typeface="Microsoft JhengHei"/>
                <a:ea typeface="Microsoft JhengHei"/>
                <a:cs typeface="Microsoft JhengHei"/>
              </a:rPr>
              <a:t>本堂尚未連接後端。按下送出可以測試欄位，但資料不會儲存。</a:t>
            </a:r>
          </a:p>
        </p:txBody>
      </p:sp>
    </p:spTree>
    <p:extLst>
      <p:ext uri="{BB962C8B-B14F-4D97-AF65-F5344CB8AC3E}">
        <p14:creationId xmlns:p14="http://schemas.microsoft.com/office/powerpoint/2010/main" val="87514062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33E177-1A8D-42F3-BE24-8FB56260F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DAD710-2C40-4226-81F7-9CAB6505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label 與 input 必須正確配對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7460CC-C902-4F2D-BA34-71F2B0E6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3970F8-5C51-411A-B462-3AEA22795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HTML5 表單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8F9348-FCE7-4828-AC28-43FFEB993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C15E19-FBC6-4756-862B-E6CBE1E4C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6191250" cy="32385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4233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40EA08-E49F-4E95-A742-505C529C9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76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B098E4-392B-4823-B6EF-8B62B975E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76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C46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D312D0-8D0F-4F9C-A68A-AF9857B0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76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08C4E5-656B-4D3F-9475-37EA1150C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62150"/>
            <a:ext cx="5734050" cy="2609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&lt;label for="name"&gt;姓名&lt;/label&gt;</a:t>
            </a:r>
          </a:p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&lt;input</a:t>
            </a:r>
          </a:p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type="text"</a:t>
            </a:r>
          </a:p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id="name"</a:t>
            </a:r>
          </a:p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name="name"</a:t>
            </a:r>
          </a:p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required</a:t>
            </a:r>
          </a:p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CF1A61-4435-4252-ADF4-CB82797C5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581150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for ↔ 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3D27FA-6D0D-4988-A2F8-061C56167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5811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讓文字標籤對應輸入欄位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8194D0-88A6-49D5-8BDF-FCC4B91DD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419350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name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A3EDEF-3349-48C6-AB0E-4A06238A8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193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資料送出時使用的欄位名稱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FDC813-8C0F-40BF-ADD2-CC138ACD0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57550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required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993FCA-9D5C-4776-AB41-772DA2E7B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575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瀏覽器要求使用者填寫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E43F8F-CBC1-4C72-BE8A-033A4FA64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095750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placeholder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BC1C5B-66B6-45F7-A60D-DACDD76A7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957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提示文字，不能取代 label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CB0D5A-1E24-40FD-A99D-C9B06037B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rPr>
              <a:t>快速測試：點擊「姓名」文字，游標應該進入輸入框。</a:t>
            </a:r>
          </a:p>
        </p:txBody>
      </p:sp>
    </p:spTree>
    <p:extLst>
      <p:ext uri="{BB962C8B-B14F-4D97-AF65-F5344CB8AC3E}">
        <p14:creationId xmlns:p14="http://schemas.microsoft.com/office/powerpoint/2010/main" val="24832357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FB947ED-80E5-4BBF-9DA8-218C6BCCC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D4A4D4-15EE-4FE6-A732-EBA41B652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type 讓瀏覽器理解輸入資料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F348B3-1FAF-4B13-97D7-E22FB1641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26CE85-8F54-4196-BB20-036D450E2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HTML5 表單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FCEFA6-6CED-4D46-9B71-EFAED9646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863FF6-2ADD-492F-990B-1C97BA9AE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90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D7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4F3EE1-6D20-4B57-AF22-093BAE4D9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1925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type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B8C446-104E-47B4-A075-5336DA71A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50495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D7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B34D64-26C8-43AD-87F6-E59BA8261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619250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適合資料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71E396-2DA9-46C4-8224-E8BCCB59C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504950"/>
            <a:ext cx="542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D7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49A195-E196-49DB-A89B-4DF5A671E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619250"/>
            <a:ext cx="512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瀏覽器能做什麼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C836C2-5053-40EE-AA1D-4D8367780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8C433B-756D-4638-917F-8A73E0E25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5265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780BB8-E044-4D87-B047-E6FE2C99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019300"/>
            <a:ext cx="285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924192-2FFE-47C3-B922-ABC21922F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152650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姓名、一般文字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665AE4-EBD2-4232-A812-FEC8D37B9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019300"/>
            <a:ext cx="542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EA681D-F28E-47F2-B6D1-6E252AC72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152650"/>
            <a:ext cx="512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接受一般文字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2194CF-B0BF-4BB0-905C-9B7A027F4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4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25D1CF-20B4-4C1E-B202-E312222D2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4320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email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7DEE1F-0150-483A-98D6-1881554DE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609850"/>
            <a:ext cx="285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4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5D47E4-23CB-4BCC-8F4D-987DB5541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743200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電子郵件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EEF623-3278-4371-94CB-D52BCB850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609850"/>
            <a:ext cx="542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4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10F3EE-D8EC-4F2B-AAD3-59737E95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743200"/>
            <a:ext cx="512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檢查基本 Email 格式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D38D89-8D92-4294-8716-DE3D74347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C8D696-3267-4127-8CE0-6AF8426B9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tel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C42B60-AE0D-4CF4-9348-C548CD65E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200400"/>
            <a:ext cx="285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940B7D-74C9-476B-B82C-0C9C45C94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333750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電話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DFE654-CE10-444B-A470-89E89267C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200400"/>
            <a:ext cx="542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364FF6-2F2B-41C9-9015-71D4127D5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333750"/>
            <a:ext cx="512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行動裝置可顯示電話鍵盤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90B736-A96A-4F57-8F9A-E66C11763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4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53E568-5235-4ACE-9709-D8534EC98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2430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date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3E660C-EB9C-42D8-8429-A618D7619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790950"/>
            <a:ext cx="285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4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FDC8BD7-7978-4C3D-91F4-31281A364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924300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日期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A897A9D-5A4B-4EA8-A1AA-332523AE8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790950"/>
            <a:ext cx="542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4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9452F2E-E23A-49FB-964B-6668F7E08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924300"/>
            <a:ext cx="512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提供日期選擇介面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3854360-4CFC-4B04-BD1D-1A0170871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B5D6AEC-72B5-4D89-9E73-D468E8893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1485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number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A7557B9-03B8-4150-B5B7-E38425AC7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381500"/>
            <a:ext cx="285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22D33A0-A404-4A31-9BE2-4407A70E4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514850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數量、年資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E4BEB88-91A9-4C1B-B1DB-A9D02C72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381500"/>
            <a:ext cx="542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A0E3646-9191-4964-BF59-DEF64C547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514850"/>
            <a:ext cx="512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可搭配 min 與 max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75BC09F-6BF1-4B86-868A-2341C0C06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4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0F62C03-A774-446F-BD2E-9A7209B84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0540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url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2875750-A807-4293-BBCA-628316258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972050"/>
            <a:ext cx="285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4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8D201ED-B8FC-478B-90B3-F3582205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05400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網站網址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2730C13-1169-4A18-94C3-A8591E1E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972050"/>
            <a:ext cx="542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4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0AD699E-5447-477E-93D8-6740885F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105400"/>
            <a:ext cx="512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檢查基本網址格式</a:t>
            </a:r>
          </a:p>
        </p:txBody>
      </p:sp>
    </p:spTree>
    <p:extLst>
      <p:ext uri="{BB962C8B-B14F-4D97-AF65-F5344CB8AC3E}">
        <p14:creationId xmlns:p14="http://schemas.microsoft.com/office/powerpoint/2010/main" val="99324493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9145E7-8374-44B2-A720-4B779FE42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178379-0D72-43A2-96A2-CA856DC0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不同選擇方式對應不同控制項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2A791C-4F7A-4706-B5FA-D6A1E609E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F4F05F-E3C4-4A40-B36A-39CF2D1C5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HTML5 表單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C74E4B-EAB7-483A-969B-5A3DBC33E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9A943F-6DF1-4D6A-83BD-FBE515EFB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47800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rPr>
              <a:t>select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96BDD9-51EC-4564-8C62-C735377EF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302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選一個程度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14FD0C-A107-461B-AF29-1F539F2F7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3238500" cy="255270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14233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E0C982-F635-4A52-BF1C-88522A111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1FDB7A-D7E1-4FC0-A108-C6258A0D8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241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C46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1A4F7D-5750-40E0-8A19-B45F37DAB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241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D13E5E-F004-4F50-8703-FFA8482A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9900"/>
            <a:ext cx="278130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&lt;select id="level" name="level"&gt;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&lt;option value=""&gt;請選擇&lt;/option&gt;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&lt;option value="beginner"&gt;初學者&lt;/option&gt;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&lt;/select&gt;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DB5DF5-F1DF-429C-A9FC-DD8059515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447800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radio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1E7742-1603-43C3-9CB1-71370D1F2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24050"/>
            <a:ext cx="302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同一組只能選一個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F642F5-2798-4032-8BC9-95305629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52700"/>
            <a:ext cx="3238500" cy="255270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142333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820AE3-AC9C-48AD-848F-83D3ACFA3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241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60B719-ADE4-42C4-9C15-9BEA64A33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7241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C46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FA1F1E-BCAD-4A42-B3E7-7E5080328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88A12E-2DD4-4122-8AD5-C4EB85E85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09900"/>
            <a:ext cx="278130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&lt;label&gt;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&lt;input type="radio"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  name="attendance"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  value="onsite"&gt; 實體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&lt;/label&gt;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3EB896-139F-4494-B4C4-E2FC2ABD6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447800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rPr>
              <a:t>checkbox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2ADE3B-A90D-4BEF-8BE8-E5111F3C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24050"/>
            <a:ext cx="302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可以選擇多個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0239D4-F8A3-4208-9497-B4C6A142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552700"/>
            <a:ext cx="3238500" cy="255270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142333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62BB3C-E265-4AB0-8038-A003804E1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241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C6655F-3CFA-456C-A6D6-84FA4197A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241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C46A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B102A8-DF5A-4DC1-A118-88E4FA0EE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7241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35566C-96CC-4DFB-88E7-93C4EE34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009900"/>
            <a:ext cx="278130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&lt;label&gt;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&lt;input type="checkbox"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  name="topics"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  value="html"&gt; HTML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&lt;/label&gt;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A05391-6D90-4446-A7A2-86E4478B1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同一組 radio 必須使用相同的 name。</a:t>
            </a:r>
          </a:p>
        </p:txBody>
      </p:sp>
    </p:spTree>
    <p:extLst>
      <p:ext uri="{BB962C8B-B14F-4D97-AF65-F5344CB8AC3E}">
        <p14:creationId xmlns:p14="http://schemas.microsoft.com/office/powerpoint/2010/main" val="162675191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4598AE-721A-45F4-9654-2218EA93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FEC250-724E-4084-85D6-CFEAA209E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fieldset、textarea 與按鈕完成表單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F291C3-60B2-42A4-BC85-4BDD0CEEF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4BA830-3DD6-45C1-8396-63F99EFD9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HTML5 表單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5F7678-FAB1-40AE-9A28-DED53454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27442A-DE93-4F41-9D6B-AC0670FED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6858000" cy="4591050"/>
          </a:xfrm>
          <a:prstGeom xmlns:a="http://schemas.openxmlformats.org/drawingml/2006/main" prst="roundRect">
            <a:avLst>
              <a:gd name="adj" fmla="val 3320"/>
            </a:avLst>
          </a:prstGeom>
          <a:solidFill xmlns:a="http://schemas.openxmlformats.org/drawingml/2006/main">
            <a:srgbClr val="14233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8C23FC-615D-493E-9BC4-CA60336AC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621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01EF14-10EF-410D-B01F-825ED68FC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5621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C46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18D92A-267E-42E3-8D2D-0FFECADE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5621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AA948C-AA11-4B66-88BE-045254E4B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7850"/>
            <a:ext cx="6400800" cy="396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&lt;fieldset&gt;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&lt;legend&gt;參加方式&lt;/legend&gt;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...radio inputs...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&lt;/fieldset&gt;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&lt;label for="message"&gt;想對講師說的話&lt;/label&gt;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&lt;textarea id="message" name="message"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rows="5" maxlength="200"&gt;&lt;/textarea&gt;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&lt;button type="submit"&gt;送出報名&lt;/button&gt;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D9407C-B3E2-485F-9F9A-FDCF34560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621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rPr>
              <a:t>fieldset + legend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788E6B-831C-42DA-AF3B-6F627BE5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38350"/>
            <a:ext cx="323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為一組相關控制項提供標題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76DDE1-CFF7-4A01-B385-1281D5CBF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289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rPr>
              <a:t>textarea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06F2D8-1C48-4782-8A03-4FFAC52E5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05200"/>
            <a:ext cx="3238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適合多行文字，內容放在開始與結束標籤之間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6B9FC6-EF71-4761-863A-F16A3EFA4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6863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button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D77F49-4A35-4A20-88F2-E1C031B61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162550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明確設定 type="submit"</a:t>
            </a:r>
          </a:p>
        </p:txBody>
      </p:sp>
    </p:spTree>
    <p:extLst>
      <p:ext uri="{BB962C8B-B14F-4D97-AF65-F5344CB8AC3E}">
        <p14:creationId xmlns:p14="http://schemas.microsoft.com/office/powerpoint/2010/main" val="96996345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C9CF4F-1681-47A3-A840-B21B548D6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C8E57A-7DCF-4A93-9CE3-A30452EFA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實作二：活動報名表單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491634-D5E1-44B8-B7C1-3F0FB8253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A82B4D-40A1-472D-B510-5A0671ACA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學生實作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5B015F-B216-4C82-87BF-A709DA42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6E5D20-B8F5-43DC-8862-7BA7CC53E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25 分鐘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11D851-AB09-41EE-92BA-CFF397758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98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rPr>
              <a:t>必要欄位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ECDD33-BB7C-42B3-B4C7-482A9B40D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5334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8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姓名、電子郵件、電話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8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目前程度下拉選單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8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參加方式單選按鈕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8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感興趣主題核取方塊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8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留言、同意事項、送出按鈕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D6BD46-2BED-455E-9799-B9A9F8B94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524000"/>
            <a:ext cx="4419600" cy="37147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4111EC-E211-42B9-ADCD-97B1B3C51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885950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rPr>
              <a:t>完成條件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FFBA64-2F89-4980-BCE7-9CF307B07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533650"/>
            <a:ext cx="3619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□ 每個欄位都有 label</a:t>
            </a:r>
          </a:p>
          <a:p xmlns:a="http://schemas.openxmlformats.org/drawingml/2006/main">
            <a:pPr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□ for 與 id 正確配對</a:t>
            </a:r>
          </a:p>
          <a:p xmlns:a="http://schemas.openxmlformats.org/drawingml/2006/main">
            <a:pPr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□ 必填欄位有 required</a:t>
            </a:r>
          </a:p>
          <a:p xmlns:a="http://schemas.openxmlformats.org/drawingml/2006/main">
            <a:pPr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□ radio 使用相同 name</a:t>
            </a:r>
          </a:p>
          <a:p xmlns:a="http://schemas.openxmlformats.org/drawingml/2006/main">
            <a:pPr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□ 按下送出會觸發驗證</a:t>
            </a:r>
          </a:p>
        </p:txBody>
      </p:sp>
    </p:spTree>
    <p:extLst>
      <p:ext uri="{BB962C8B-B14F-4D97-AF65-F5344CB8AC3E}">
        <p14:creationId xmlns:p14="http://schemas.microsoft.com/office/powerpoint/2010/main" val="70627120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944A0B-5395-4440-9D5E-C2766A87A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D7B9D1-CDD1-409C-99D3-F181184D9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瀏覽器原生表單已經可以操作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DF49EE-F5DA-4674-95E9-09FC05D74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111DF2-6DAF-45FD-86FD-7BA8E3807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實際呈現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25F9B7-8819-469E-85DB-D867F94B0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25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25e9563766474d"/>
          <a:stretch xmlns:a="http://schemas.openxmlformats.org/drawingml/2006/main"/>
        </p:blipFill>
        <p:spPr>
          <a:xfrm xmlns:a="http://schemas.openxmlformats.org/drawingml/2006/main">
            <a:off x="514350" y="1924645"/>
            <a:ext cx="5619750" cy="3161109"/>
          </a:xfrm>
          <a:prstGeom xmlns:a="http://schemas.openxmlformats.org/drawingml/2006/main" prst="roundRect">
            <a:avLst>
              <a:gd name="adj" fmla="val 3211"/>
            </a:avLst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92efde31804d1d"/>
          <a:stretch xmlns:a="http://schemas.openxmlformats.org/drawingml/2006/main"/>
        </p:blipFill>
        <p:spPr>
          <a:xfrm xmlns:a="http://schemas.openxmlformats.org/drawingml/2006/main">
            <a:off x="6305550" y="1994297"/>
            <a:ext cx="5372100" cy="3021806"/>
          </a:xfrm>
          <a:prstGeom xmlns:a="http://schemas.openxmlformats.org/drawingml/2006/main" prst="roundRect">
            <a:avLst>
              <a:gd name="adj" fmla="val 3211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38C2D6-AA08-45DD-AF05-C8F6C42BA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上半部：文字欄位、下拉選單與選項群組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67F4F0-57E2-4F73-9EFE-8579B9B4F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715000"/>
            <a:ext cx="491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下半部：textarea、同意事項與送出按鈕</a:t>
            </a:r>
          </a:p>
        </p:txBody>
      </p:sp>
    </p:spTree>
    <p:extLst>
      <p:ext uri="{BB962C8B-B14F-4D97-AF65-F5344CB8AC3E}">
        <p14:creationId xmlns:p14="http://schemas.microsoft.com/office/powerpoint/2010/main" val="151533198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B0BAC6-B989-42F3-A61B-7F7AEEE7D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0655F6-6DE0-46A2-9849-ACAAD7F15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表單完成後要實際測試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F92A10-8F01-44D5-A36A-9C544C765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98AFE0-AF81-4418-89CD-4DD83012E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驗證與無障礙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8CBB02-4F26-493A-A382-8F88674B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1AB65A-4982-4EC9-B7B2-17B77A4F6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滑鼠測試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9B2F05-F670-4BE2-92D4-6DAADB7F2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476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點擊 label 是否聚焦欄位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不填必填欄位直接送出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輸入錯誤的 Email 格式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264262-0DFA-4FCA-AFEB-A77C2ECE1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240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rPr>
              <a:t>鍵盤測試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7E71B8-AA66-4712-834C-9C237B249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38350"/>
            <a:ext cx="476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Tab 是否依序移動焦點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方向鍵能否切換 radio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空白鍵能否切換 checkbox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FAFAC2-A855-4250-B4D2-BA6ACF614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62450"/>
            <a:ext cx="10363200" cy="1009650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DDEBF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D98C09-EF68-4AE8-8147-AD0E48A6F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0"/>
            <a:ext cx="967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rPr>
              <a:t>HTML 內建驗證改善使用體驗，正式網站仍需在伺服器再次驗證資料。</a:t>
            </a:r>
          </a:p>
        </p:txBody>
      </p:sp>
    </p:spTree>
    <p:extLst>
      <p:ext uri="{BB962C8B-B14F-4D97-AF65-F5344CB8AC3E}">
        <p14:creationId xmlns:p14="http://schemas.microsoft.com/office/powerpoint/2010/main" val="94002292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192E4D-D65D-49AB-A143-6C7264367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5C68C1-7C59-4281-887E-36E805AE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綜合挑戰：再加入一個適合的欄位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254622-5F3B-43B2-8BA7-9A1FBAC2A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B5C860-5A59-47CF-83A9-F37B1489D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延伸實作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20C91B-81E8-49D8-88E4-810A473E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FEB0E2-A1B2-4566-9279-B939D029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rPr>
              <a:t>基礎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D1991D-B786-40A8-9667-41D96DE60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使用 time 標記活動日期與時間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CE6758-8C79-44A7-AA2E-A0955A531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314325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14233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F2B86A-E91E-44BF-BF29-575A5FDB5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337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21228C-7B96-4EA1-9494-BC6B4879C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337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C46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E8BAAA-347C-4F7F-ABCB-AA9EE87CA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9337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1BA7C7-5B41-4A35-A3F5-1463591CA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19450"/>
            <a:ext cx="26860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&lt;time datetime="2026-10-15T09:00"&gt;</a:t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2026 年 10 月 15 日上午 9 點</a:t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&lt;/time&gt;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57894C-4825-4AED-B6EA-6461D5B44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4287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rPr>
              <a:t>進階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65150A-16D8-4183-8473-D61A08C19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240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加入上午場與下午場下拉選單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F92EB8-CF43-4791-A7CF-E0D10CE9F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62250"/>
            <a:ext cx="314325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142333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1C2F7B-DAEB-4B15-8FDB-22E112E6E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9337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C778B8-54A0-489B-957C-05D5AA62A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337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C46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0838E6-97A6-4F2F-8C84-9A43F88F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9337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4F5AC2-4BD4-41AA-8142-1A314725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19450"/>
            <a:ext cx="26860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&lt;select id="session" name="session"&gt;</a:t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&lt;option value="morning"&gt;上午場&lt;/option&gt;</a:t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&lt;option value="afternoon"&gt;下午場&lt;/option&gt;</a:t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&lt;/select&gt;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F007C8-AD84-4000-BD9F-F97A44732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4287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延伸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AA872B-2084-46B2-8823-869863ACB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9240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加入個人網站網址欄位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944D0B-CACF-4A53-A0BD-7CBEACF48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62250"/>
            <a:ext cx="314325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142333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85BFED-87AB-4230-B48B-4476B8B81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9337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F70B38-9043-46D7-B3A8-C3C925845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337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C46A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F57708-CFCD-48C8-90C4-269F18103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9337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46D6C3-DE3B-4DE9-A7A5-68B737B8D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19450"/>
            <a:ext cx="26860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&lt;label for="website"&gt;個人網站&lt;/label&gt;</a:t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&lt;input type="url" id="website"</a:t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name="website"&gt;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068CFA-7E0B-439A-A526-707DCB4E2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626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選一項完成即可。完成後向旁邊同學說明你為什麼選這個標籤。</a:t>
            </a:r>
          </a:p>
        </p:txBody>
      </p:sp>
    </p:spTree>
    <p:extLst>
      <p:ext uri="{BB962C8B-B14F-4D97-AF65-F5344CB8AC3E}">
        <p14:creationId xmlns:p14="http://schemas.microsoft.com/office/powerpoint/2010/main" val="28786199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C92901-FF41-4C6B-A1DC-C8749E42E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C7B054-5456-48F5-854B-4CB69BE8F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課堂回顧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31263A-7108-4660-B4B7-00F61DD36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FC36DB-687D-4668-8B57-A3EFC4EC7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快速檢核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9CFBFE-A20F-4B4A-BA75-11928A162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401AF8-E861-4197-86D9-0E1755DE8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EFD155-3483-4A94-8511-CE589B875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52400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可見內容放在 head 還是 body？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26639E-3060-4936-998B-F7001F9A9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240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4D7423-E76D-4789-BC92-C467A326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5240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圖片為什麼需要 alt？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01B33E-1E88-4E1A-B372-271C5FE06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051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B6AEDD-A279-43FB-B578-F0893CA4C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05100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section 和 aside 的用途有何不同？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A9AA27-4AD2-4827-9D52-6B1D189B9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C6910D-1A37-466B-B24B-A93A0091D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7051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label 的 for 應對應哪個屬性？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9D1554-FAAE-4DF7-BFEE-F252C44E6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8F46D2-56E8-4E65-B98D-7438AB163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957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同一組 radio 如何設定？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D836C3-946E-4DE7-9C81-EDAA613A7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957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C595C6-D960-4076-A0E4-761B88793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0957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required 會產生什麼效果？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B08831-8378-4365-A2EF-FD8840AE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673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請用自己的話回答，不需要背定義。</a:t>
            </a:r>
          </a:p>
        </p:txBody>
      </p:sp>
    </p:spTree>
    <p:extLst>
      <p:ext uri="{BB962C8B-B14F-4D97-AF65-F5344CB8AC3E}">
        <p14:creationId xmlns:p14="http://schemas.microsoft.com/office/powerpoint/2010/main" val="62628712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F910BF-7849-4E0E-9887-BAA79435E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F21F16-12D6-44E2-A1FE-A1195568B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課後作業：自選主題報名頁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73D13C-294C-45EE-9FA0-3D436D0DC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3EEE8D-F792-4E80-9C44-B7F3EACE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課後延伸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AD8817-AA63-4E14-813F-8ABD9A7DE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29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E6718A-FC83-4709-ACF0-5F702899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題目範例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0FE6A7-40D9-4EA7-94AA-96F7ECBCE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社團招生　校外教學　講座報名　運動比賽　志工活動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3D6D4F-AEA6-4AC8-9D0F-156B15CD6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rPr>
              <a:t>必要條件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B3F030-BBCC-4258-B5FA-367D7C6B3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7239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800"/>
              </a:spcAft>
              <a:buChar char="•"/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正確的 HTML5 文件結構與一致縮排</a:t>
            </a:r>
          </a:p>
          <a:p xmlns:a="http://schemas.openxmlformats.org/drawingml/2006/main">
            <a:pPr marL="254000" indent="-127000">
              <a:spcAft>
                <a:spcPts val="800"/>
              </a:spcAft>
              <a:buChar char="•"/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header、nav、main、section、footer</a:t>
            </a:r>
          </a:p>
          <a:p xmlns:a="http://schemas.openxmlformats.org/drawingml/2006/main">
            <a:pPr marL="254000" indent="-127000">
              <a:spcAft>
                <a:spcPts val="800"/>
              </a:spcAft>
              <a:buChar char="•"/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至少一個外部連結與一個頁面內連結</a:t>
            </a:r>
          </a:p>
          <a:p xmlns:a="http://schemas.openxmlformats.org/drawingml/2006/main">
            <a:pPr marL="254000" indent="-127000">
              <a:spcAft>
                <a:spcPts val="800"/>
              </a:spcAft>
              <a:buChar char="•"/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至少五種表單欄位，且都有適當 label</a:t>
            </a:r>
          </a:p>
          <a:p xmlns:a="http://schemas.openxmlformats.org/drawingml/2006/main">
            <a:pPr marL="254000" indent="-127000">
              <a:spcAft>
                <a:spcPts val="800"/>
              </a:spcAft>
              <a:buChar char="•"/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必填欄位使用 required，並完成鍵盤測試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BA6B4D-8852-4083-854F-8897CD0C7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81300"/>
            <a:ext cx="2724150" cy="24574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78988C-D75B-4008-A907-ED64E42C9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8610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rPr>
              <a:t>評量比例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92DA4F-1442-4120-A1E3-50E5126AC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38550"/>
            <a:ext cx="2038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文件結構　20%</a:t>
            </a:r>
          </a:p>
          <a:p xmlns:a="http://schemas.openxmlformats.org/drawingml/2006/main">
            <a:pPr algn="ctr">
              <a:defRPr sz="15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常用標籤　20%</a:t>
            </a:r>
          </a:p>
          <a:p xmlns:a="http://schemas.openxmlformats.org/drawingml/2006/main">
            <a:pPr algn="ctr">
              <a:defRPr sz="15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語意結構　20%</a:t>
            </a:r>
          </a:p>
          <a:p xmlns:a="http://schemas.openxmlformats.org/drawingml/2006/main">
            <a:pPr algn="ctr">
              <a:defRPr sz="15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表單操作　25%</a:t>
            </a:r>
          </a:p>
          <a:p xmlns:a="http://schemas.openxmlformats.org/drawingml/2006/main">
            <a:pPr algn="ctr">
              <a:defRPr sz="15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整潔與內容　15%</a:t>
            </a:r>
          </a:p>
        </p:txBody>
      </p:sp>
    </p:spTree>
    <p:extLst>
      <p:ext uri="{BB962C8B-B14F-4D97-AF65-F5344CB8AC3E}">
        <p14:creationId xmlns:p14="http://schemas.microsoft.com/office/powerpoint/2010/main" val="11651268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2026-09-18T14:59:38.0510000Z</dcterms:created>
  <dcterms:modified xsi:type="dcterms:W3CDTF">2026-09-18T14:59:38.0510000Z</dcterms:modified>
</coreProperties>
</file>