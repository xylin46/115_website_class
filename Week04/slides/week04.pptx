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80d8b5ad384a90" /><Relationship Type="http://schemas.openxmlformats.org/officeDocument/2006/relationships/extended-properties" Target="/docProps/app.xml" Id="Rf4e53abe3a5d42ff" /><Relationship Type="http://schemas.openxmlformats.org/officeDocument/2006/relationships/officeDocument" Target="/ppt/presentation.xml" Id="R25ed97ff44794c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0626b5f1741b0"/>
  </p:sldMasterIdLst>
  <p:notesMasterIdLst>
    <p:notesMasterId xmlns:r="http://schemas.openxmlformats.org/officeDocument/2006/relationships" r:id="Rb4f7283faf704c48"/>
  </p:notesMasterIdLst>
  <p:sldIdLst>
    <p:sldId xmlns:r="http://schemas.openxmlformats.org/officeDocument/2006/relationships" id="256" r:id="R7d38dd35612547fb"/>
    <p:sldId xmlns:r="http://schemas.openxmlformats.org/officeDocument/2006/relationships" id="257" r:id="Rd9161a8d2bc34c43"/>
    <p:sldId xmlns:r="http://schemas.openxmlformats.org/officeDocument/2006/relationships" id="258" r:id="Re13b11e572d64f68"/>
    <p:sldId xmlns:r="http://schemas.openxmlformats.org/officeDocument/2006/relationships" id="259" r:id="R06df4996e6684e82"/>
    <p:sldId xmlns:r="http://schemas.openxmlformats.org/officeDocument/2006/relationships" id="260" r:id="R2fc934e423824746"/>
    <p:sldId xmlns:r="http://schemas.openxmlformats.org/officeDocument/2006/relationships" id="261" r:id="Rdfe0fc7b7dd7437a"/>
    <p:sldId xmlns:r="http://schemas.openxmlformats.org/officeDocument/2006/relationships" id="262" r:id="Rebf79fc3e17844ea"/>
    <p:sldId xmlns:r="http://schemas.openxmlformats.org/officeDocument/2006/relationships" id="263" r:id="Rd8416cebddfd4153"/>
    <p:sldId xmlns:r="http://schemas.openxmlformats.org/officeDocument/2006/relationships" id="264" r:id="R532eed593a554f68"/>
    <p:sldId xmlns:r="http://schemas.openxmlformats.org/officeDocument/2006/relationships" id="265" r:id="Ra76630c9d64c4fce"/>
    <p:sldId xmlns:r="http://schemas.openxmlformats.org/officeDocument/2006/relationships" id="266" r:id="R41ce5de0685143c2"/>
    <p:sldId xmlns:r="http://schemas.openxmlformats.org/officeDocument/2006/relationships" id="267" r:id="R9813d10904ac4ddf"/>
    <p:sldId xmlns:r="http://schemas.openxmlformats.org/officeDocument/2006/relationships" id="268" r:id="R0305fba2c2834322"/>
    <p:sldId xmlns:r="http://schemas.openxmlformats.org/officeDocument/2006/relationships" id="269" r:id="Rb07f32b2f62840a3"/>
    <p:sldId xmlns:r="http://schemas.openxmlformats.org/officeDocument/2006/relationships" id="270" r:id="R62ba8fc4727745f7"/>
    <p:sldId xmlns:r="http://schemas.openxmlformats.org/officeDocument/2006/relationships" id="271" r:id="R3cb3164db5fe4b51"/>
    <p:sldId xmlns:r="http://schemas.openxmlformats.org/officeDocument/2006/relationships" id="272" r:id="R67235365020a467e"/>
    <p:sldId xmlns:r="http://schemas.openxmlformats.org/officeDocument/2006/relationships" id="273" r:id="Rcbd98858d1a84299"/>
    <p:sldId xmlns:r="http://schemas.openxmlformats.org/officeDocument/2006/relationships" id="274" r:id="R865d294ae93f48ef"/>
    <p:sldId xmlns:r="http://schemas.openxmlformats.org/officeDocument/2006/relationships" id="275" r:id="R80760c022cf843cb"/>
    <p:sldId xmlns:r="http://schemas.openxmlformats.org/officeDocument/2006/relationships" id="276" r:id="Re060dd26777745d3"/>
    <p:sldId xmlns:r="http://schemas.openxmlformats.org/officeDocument/2006/relationships" id="277" r:id="R9732b9e4f60c4a6e"/>
    <p:sldId xmlns:r="http://schemas.openxmlformats.org/officeDocument/2006/relationships" id="278" r:id="Ra6a550cf34a945d3"/>
    <p:sldId xmlns:r="http://schemas.openxmlformats.org/officeDocument/2006/relationships" id="279" r:id="Rb293d0595e4148ef"/>
    <p:sldId xmlns:r="http://schemas.openxmlformats.org/officeDocument/2006/relationships" id="280" r:id="Rb17c3bfc50044efe"/>
    <p:sldId xmlns:r="http://schemas.openxmlformats.org/officeDocument/2006/relationships" id="281" r:id="Rdcdb62e3d5dd4297"/>
    <p:sldId xmlns:r="http://schemas.openxmlformats.org/officeDocument/2006/relationships" id="282" r:id="Rf226ca728cb54ed2"/>
    <p:sldId xmlns:r="http://schemas.openxmlformats.org/officeDocument/2006/relationships" id="283" r:id="R0a26886c33034ee7"/>
    <p:sldId xmlns:r="http://schemas.openxmlformats.org/officeDocument/2006/relationships" id="284" r:id="R9d59d44e087d40f8"/>
    <p:sldId xmlns:r="http://schemas.openxmlformats.org/officeDocument/2006/relationships" id="285" r:id="Rbcc1de86ef514947"/>
    <p:sldId xmlns:r="http://schemas.openxmlformats.org/officeDocument/2006/relationships" id="286" r:id="R95321676c33d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df33424744635" /><Relationship Type="http://schemas.openxmlformats.org/officeDocument/2006/relationships/slideMaster" Target="/ppt/slideMasters/slideMaster1.xml" Id="Rbe30626b5f1741b0" /><Relationship Type="http://schemas.openxmlformats.org/officeDocument/2006/relationships/notesMaster" Target="/ppt/notesMasters/notesMaster1.xml" Id="Rb4f7283faf704c48" /><Relationship Type="http://schemas.openxmlformats.org/officeDocument/2006/relationships/presProps" Target="/ppt/presProps.xml" Id="R5e85903b9ddd4c1a" /><Relationship Type="http://schemas.openxmlformats.org/officeDocument/2006/relationships/tableStyles" Target="/ppt/tableStyles.xml" Id="R93ea8e43a46e4dae" /><Relationship Type="http://schemas.openxmlformats.org/officeDocument/2006/relationships/slide" Target="/ppt/slides/slide1.xml" Id="R7d38dd35612547fb" /><Relationship Type="http://schemas.openxmlformats.org/officeDocument/2006/relationships/slide" Target="/ppt/slides/slide2.xml" Id="Rd9161a8d2bc34c43" /><Relationship Type="http://schemas.openxmlformats.org/officeDocument/2006/relationships/slide" Target="/ppt/slides/slide3.xml" Id="Re13b11e572d64f68" /><Relationship Type="http://schemas.openxmlformats.org/officeDocument/2006/relationships/slide" Target="/ppt/slides/slide4.xml" Id="R06df4996e6684e82" /><Relationship Type="http://schemas.openxmlformats.org/officeDocument/2006/relationships/slide" Target="/ppt/slides/slide5.xml" Id="R2fc934e423824746" /><Relationship Type="http://schemas.openxmlformats.org/officeDocument/2006/relationships/slide" Target="/ppt/slides/slide6.xml" Id="Rdfe0fc7b7dd7437a" /><Relationship Type="http://schemas.openxmlformats.org/officeDocument/2006/relationships/slide" Target="/ppt/slides/slide7.xml" Id="Rebf79fc3e17844ea" /><Relationship Type="http://schemas.openxmlformats.org/officeDocument/2006/relationships/slide" Target="/ppt/slides/slide8.xml" Id="Rd8416cebddfd4153" /><Relationship Type="http://schemas.openxmlformats.org/officeDocument/2006/relationships/slide" Target="/ppt/slides/slide9.xml" Id="R532eed593a554f68" /><Relationship Type="http://schemas.openxmlformats.org/officeDocument/2006/relationships/slide" Target="/ppt/slides/slide10.xml" Id="Ra76630c9d64c4fce" /><Relationship Type="http://schemas.openxmlformats.org/officeDocument/2006/relationships/slide" Target="/ppt/slides/slide11.xml" Id="R41ce5de0685143c2" /><Relationship Type="http://schemas.openxmlformats.org/officeDocument/2006/relationships/slide" Target="/ppt/slides/slide12.xml" Id="R9813d10904ac4ddf" /><Relationship Type="http://schemas.openxmlformats.org/officeDocument/2006/relationships/slide" Target="/ppt/slides/slide13.xml" Id="R0305fba2c2834322" /><Relationship Type="http://schemas.openxmlformats.org/officeDocument/2006/relationships/slide" Target="/ppt/slides/slide14.xml" Id="Rb07f32b2f62840a3" /><Relationship Type="http://schemas.openxmlformats.org/officeDocument/2006/relationships/slide" Target="/ppt/slides/slide15.xml" Id="R62ba8fc4727745f7" /><Relationship Type="http://schemas.openxmlformats.org/officeDocument/2006/relationships/slide" Target="/ppt/slides/slide16.xml" Id="R3cb3164db5fe4b51" /><Relationship Type="http://schemas.openxmlformats.org/officeDocument/2006/relationships/slide" Target="/ppt/slides/slide17.xml" Id="R67235365020a467e" /><Relationship Type="http://schemas.openxmlformats.org/officeDocument/2006/relationships/slide" Target="/ppt/slides/slide18.xml" Id="Rcbd98858d1a84299" /><Relationship Type="http://schemas.openxmlformats.org/officeDocument/2006/relationships/slide" Target="/ppt/slides/slide19.xml" Id="R865d294ae93f48ef" /><Relationship Type="http://schemas.openxmlformats.org/officeDocument/2006/relationships/slide" Target="/ppt/slides/slide20.xml" Id="R80760c022cf843cb" /><Relationship Type="http://schemas.openxmlformats.org/officeDocument/2006/relationships/slide" Target="/ppt/slides/slide21.xml" Id="Re060dd26777745d3" /><Relationship Type="http://schemas.openxmlformats.org/officeDocument/2006/relationships/slide" Target="/ppt/slides/slide22.xml" Id="R9732b9e4f60c4a6e" /><Relationship Type="http://schemas.openxmlformats.org/officeDocument/2006/relationships/slide" Target="/ppt/slides/slide23.xml" Id="Ra6a550cf34a945d3" /><Relationship Type="http://schemas.openxmlformats.org/officeDocument/2006/relationships/slide" Target="/ppt/slides/slide24.xml" Id="Rb293d0595e4148ef" /><Relationship Type="http://schemas.openxmlformats.org/officeDocument/2006/relationships/slide" Target="/ppt/slides/slide25.xml" Id="Rb17c3bfc50044efe" /><Relationship Type="http://schemas.openxmlformats.org/officeDocument/2006/relationships/slide" Target="/ppt/slides/slide26.xml" Id="Rdcdb62e3d5dd4297" /><Relationship Type="http://schemas.openxmlformats.org/officeDocument/2006/relationships/slide" Target="/ppt/slides/slide27.xml" Id="Rf226ca728cb54ed2" /><Relationship Type="http://schemas.openxmlformats.org/officeDocument/2006/relationships/slide" Target="/ppt/slides/slide28.xml" Id="R0a26886c33034ee7" /><Relationship Type="http://schemas.openxmlformats.org/officeDocument/2006/relationships/slide" Target="/ppt/slides/slide29.xml" Id="R9d59d44e087d40f8" /><Relationship Type="http://schemas.openxmlformats.org/officeDocument/2006/relationships/slide" Target="/ppt/slides/slide30.xml" Id="Rbcc1de86ef514947" /><Relationship Type="http://schemas.openxmlformats.org/officeDocument/2006/relationships/slide" Target="/ppt/slides/slide31.xml" Id="R95321676c33d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39c67df414c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a3f0a68424857" /><Relationship Type="http://schemas.openxmlformats.org/officeDocument/2006/relationships/notesMaster" Target="/ppt/notesMasters/notesMaster1.xml" Id="R1300858312d94b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2677da8dca40b8" /><Relationship Type="http://schemas.openxmlformats.org/officeDocument/2006/relationships/notesMaster" Target="/ppt/notesMasters/notesMaster1.xml" Id="Rffbee4de507043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9b6209bfef4296" /><Relationship Type="http://schemas.openxmlformats.org/officeDocument/2006/relationships/notesMaster" Target="/ppt/notesMasters/notesMaster1.xml" Id="Rf9297d2cf8e849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5bf4e99ec1470f" /><Relationship Type="http://schemas.openxmlformats.org/officeDocument/2006/relationships/notesMaster" Target="/ppt/notesMasters/notesMaster1.xml" Id="Raaf116d96fd9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7bd8a5996d4148" /><Relationship Type="http://schemas.openxmlformats.org/officeDocument/2006/relationships/notesMaster" Target="/ppt/notesMasters/notesMaster1.xml" Id="Re77c3120fa6141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ad6f5006f7437b" /><Relationship Type="http://schemas.openxmlformats.org/officeDocument/2006/relationships/notesMaster" Target="/ppt/notesMasters/notesMaster1.xml" Id="R734fa160d7d4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db3677d09140ab" /><Relationship Type="http://schemas.openxmlformats.org/officeDocument/2006/relationships/notesMaster" Target="/ppt/notesMasters/notesMaster1.xml" Id="R95e0b5606b2a4c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1e62571a3e476c" /><Relationship Type="http://schemas.openxmlformats.org/officeDocument/2006/relationships/notesMaster" Target="/ppt/notesMasters/notesMaster1.xml" Id="R1221bf43d4614b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d7cf8e66764dea" /><Relationship Type="http://schemas.openxmlformats.org/officeDocument/2006/relationships/notesMaster" Target="/ppt/notesMasters/notesMaster1.xml" Id="R6edb1c8ae4b6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1f69a028cf466f" /><Relationship Type="http://schemas.openxmlformats.org/officeDocument/2006/relationships/notesMaster" Target="/ppt/notesMasters/notesMaster1.xml" Id="R13b495a3556c45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5339eb1c9e4532" /><Relationship Type="http://schemas.openxmlformats.org/officeDocument/2006/relationships/notesMaster" Target="/ppt/notesMasters/notesMaster1.xml" Id="R539f23298c5244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336e3c7f604b33" /><Relationship Type="http://schemas.openxmlformats.org/officeDocument/2006/relationships/notesMaster" Target="/ppt/notesMasters/notesMaster1.xml" Id="R937b0a7bd56441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2361c8fe154182" /><Relationship Type="http://schemas.openxmlformats.org/officeDocument/2006/relationships/notesMaster" Target="/ppt/notesMasters/notesMaster1.xml" Id="Raec3292a735048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aa50553d124e8a" /><Relationship Type="http://schemas.openxmlformats.org/officeDocument/2006/relationships/notesMaster" Target="/ppt/notesMasters/notesMaster1.xml" Id="Re0b69fa09b6c40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7e3e578c0840a3" /><Relationship Type="http://schemas.openxmlformats.org/officeDocument/2006/relationships/notesMaster" Target="/ppt/notesMasters/notesMaster1.xml" Id="R0305a2b38aa149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52a16a02a947b9" /><Relationship Type="http://schemas.openxmlformats.org/officeDocument/2006/relationships/notesMaster" Target="/ppt/notesMasters/notesMaster1.xml" Id="R6e6466f96e264c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e674f8d6204f97" /><Relationship Type="http://schemas.openxmlformats.org/officeDocument/2006/relationships/notesMaster" Target="/ppt/notesMasters/notesMaster1.xml" Id="Rd11800b5052345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15a247980548ca" /><Relationship Type="http://schemas.openxmlformats.org/officeDocument/2006/relationships/notesMaster" Target="/ppt/notesMasters/notesMaster1.xml" Id="R2c234b94032741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8d6eb7459c4502" /><Relationship Type="http://schemas.openxmlformats.org/officeDocument/2006/relationships/notesMaster" Target="/ppt/notesMasters/notesMaster1.xml" Id="R3d7367e1b8ee4a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88af6671504420" /><Relationship Type="http://schemas.openxmlformats.org/officeDocument/2006/relationships/notesMaster" Target="/ppt/notesMasters/notesMaster1.xml" Id="R084da542990a4d3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4bd67509664705" /><Relationship Type="http://schemas.openxmlformats.org/officeDocument/2006/relationships/notesMaster" Target="/ppt/notesMasters/notesMaster1.xml" Id="Rfd12cefbd5944f3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c3240ca9c04af2" /><Relationship Type="http://schemas.openxmlformats.org/officeDocument/2006/relationships/notesMaster" Target="/ppt/notesMasters/notesMaster1.xml" Id="R24b7210169bd49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a97fe1041247a2" /><Relationship Type="http://schemas.openxmlformats.org/officeDocument/2006/relationships/notesMaster" Target="/ppt/notesMasters/notesMaster1.xml" Id="R2a5056a17bbb4e5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fdddf6c8ebd40ee" /><Relationship Type="http://schemas.openxmlformats.org/officeDocument/2006/relationships/notesMaster" Target="/ppt/notesMasters/notesMaster1.xml" Id="Raa70e60cd3da4d5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c63909351a4575" /><Relationship Type="http://schemas.openxmlformats.org/officeDocument/2006/relationships/notesMaster" Target="/ppt/notesMasters/notesMaster1.xml" Id="Re73bb99eec4b4a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c1ab2c7a29499a" /><Relationship Type="http://schemas.openxmlformats.org/officeDocument/2006/relationships/notesMaster" Target="/ppt/notesMasters/notesMaster1.xml" Id="Rc73f060120ac4e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c18970523b045f0" /><Relationship Type="http://schemas.openxmlformats.org/officeDocument/2006/relationships/notesMaster" Target="/ppt/notesMasters/notesMaster1.xml" Id="Rf4f710bb2df541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fbd1533e8d4599" /><Relationship Type="http://schemas.openxmlformats.org/officeDocument/2006/relationships/notesMaster" Target="/ppt/notesMasters/notesMaster1.xml" Id="R8951d1fbacb248b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33960bbc614cef" /><Relationship Type="http://schemas.openxmlformats.org/officeDocument/2006/relationships/notesMaster" Target="/ppt/notesMasters/notesMaster1.xml" Id="R502cb3a0f4fb44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8d057c487b43d7" /><Relationship Type="http://schemas.openxmlformats.org/officeDocument/2006/relationships/notesMaster" Target="/ppt/notesMasters/notesMaster1.xml" Id="Rfe25e2b0c1a04b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7e822166a34872" /><Relationship Type="http://schemas.openxmlformats.org/officeDocument/2006/relationships/notesMaster" Target="/ppt/notesMasters/notesMaster1.xml" Id="R4dc8e0730c954d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分鐘。展示最後完成的雙欄活動頁。說明今天會保留第三週的 HTML，只新增 CSS 與少量 class。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分鐘。交代流程。提醒學生準備第三週完成的活動報名頁，也可使用本課提供的完成版 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分鐘。說明百分比只是尺寸，flex 才負責同列排列。這個區分是本堂最重要的觀念。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分鐘。讓學生先觀察內容完全相同，但文字、顏色、間距與排列方式不同。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分鐘。回顧第三週 HTML 的責任。請學生舉例哪些屬於內容，哪些屬於外觀。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分鐘。帶學生新增 style.css，再加入 link。故意改錯檔名，示範 CSS 完全沒有載入時如何檢查路徑。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分鐘。逐字說明大括號、冒號與分號。讓學生修改文字顏色和大小，存檔後重新整理瀏覽器。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分鐘。這張作為查表，不要求背誦。提醒 margin 與 padding 稍後會放進盒模型一起解釋。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分鐘。用四個問題建立選擇器的判斷順序，後面逐一示範。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分鐘。適合全站統一的基本樣式。讓學生思考：如果只想改其中一段，元素選擇器是否合適？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分鐘。強調多個元素可以共用同一個 class，一個元素也可同時擁有多個 class。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分鐘。連結第三週 href="#register" 的概念。說明 id 可以被 CSS 選取，但不要為了樣式大量建立 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分鐘。對照 HTML 巢狀結構。讓學生找出 nav 外面的 a，確認它不會套用 nav a 規則。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分鐘。這是簡化版優先權。用同一個 p 同時命中 p、.notice 與 #id 的例子口頭推理，不延伸複雜計分。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 分鐘。教師先確認 link 路徑，再檢查選擇器。遇到樣式沒反應時，不要直接重寫，先用完成檢查逐項排除。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 分鐘。請學生指出畫面上的每個樣式由哪一條選擇器負責。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分鐘。前 5 分鐘同儕檢查，後 5 分鐘休息。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分鐘。先建立學生常見的錯誤期待：寬度加起來 100% 不代表自動並排。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時間：6 分鐘。從內容往外介紹 padding、border、margin。用紙盒比喻，並連結學生在畫面中看到的空白。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分鐘。讓學生先採用全域 border-box，避免 30% + 70% 加上 padding 後超出父元素。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分鐘。以 1000px 做口算，只強調關係，不要求精確處理捲軸與 body 預設 margin。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時間：5 分鐘。這張截圖由 Chrome 實際載入 examples/week04/percentage.html 取得。請學生縮放瀏覽器，觀察三層一起改變。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分鐘。預先阻止學生把 width 與 height 的百分比當成完全相同。只講使用界線，不深入 containing block 規格。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時間：7 分鐘。用父子關係反覆確認：layout 控制排列，sidebar 與 content 控制各自比例。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時間：10 分鐘。學生同步輸入。完成後交換 30% 與 70%，再改成 40% 與 60%，觀察版面變化。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時間：8 分鐘。這張截圖由 Chrome 實際載入 examples/week04/two-columns.html 取得。讓學生調整瀏覽器寬度，觀察比例維持不變。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時間：22 分鐘。先完成版面比例，再處理顏色與間距。教師巡視時用檢查表提問，引導學生自己定位錯誤。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分鐘。對照學生作品。指出 page-layout、content-column、form-column 與表單欄位分別由哪些規則控制。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時間：4 分鐘。示範一次完整除錯流程。建立順序感，避免學生看到沒效果就任意新增更多規則。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分鐘。讓學生用自己的話回答。第 4 題答案必須提到 div 預設為區塊元素，仍需設定排列方式。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時間：3 分鐘。提醒學生繳交 HTML 與 CSS，不能只交截圖。比例可自選，但需要說明選擇理由。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fdab5fc4c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92ed34f62475b" /><Relationship Type="http://schemas.openxmlformats.org/officeDocument/2006/relationships/slideLayout" Target="/ppt/slideLayouts/slideLayout1.xml" Id="R8e235a0b6de548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35a0b6de548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cfd590e244bba" /><Relationship Type="http://schemas.openxmlformats.org/officeDocument/2006/relationships/notesSlide" Target="/ppt/notesSlides/notesSlide1.xml" Id="R5d5ef2879fd54b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e593ca41943db" /><Relationship Type="http://schemas.openxmlformats.org/officeDocument/2006/relationships/notesSlide" Target="/ppt/notesSlides/notesSlide2.xml" Id="Rb6f27140484848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4fb74b82a44da" /><Relationship Type="http://schemas.openxmlformats.org/officeDocument/2006/relationships/notesSlide" Target="/ppt/notesSlides/notesSlide3.xml" Id="R121404dbd975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10fa12a204a06" /><Relationship Type="http://schemas.openxmlformats.org/officeDocument/2006/relationships/image" Target="/ppt/media/image.png" Id="R118d2611217a4eaf" /><Relationship Type="http://schemas.openxmlformats.org/officeDocument/2006/relationships/image" Target="/ppt/media/image2.png" Id="Re6d6861d412a4885" /><Relationship Type="http://schemas.openxmlformats.org/officeDocument/2006/relationships/notesSlide" Target="/ppt/notesSlides/notesSlide4.xml" Id="R3147ae0e8a464a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790860cb64d3c" /><Relationship Type="http://schemas.openxmlformats.org/officeDocument/2006/relationships/notesSlide" Target="/ppt/notesSlides/notesSlide5.xml" Id="R0acf4385f7ed41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7ae00a85b4549" /><Relationship Type="http://schemas.openxmlformats.org/officeDocument/2006/relationships/notesSlide" Target="/ppt/notesSlides/notesSlide6.xml" Id="Rd0788d19848a47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36b7cec94e44" /><Relationship Type="http://schemas.openxmlformats.org/officeDocument/2006/relationships/notesSlide" Target="/ppt/notesSlides/notesSlide7.xml" Id="R5944469307984c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0ba35f9674b72" /><Relationship Type="http://schemas.openxmlformats.org/officeDocument/2006/relationships/notesSlide" Target="/ppt/notesSlides/notesSlide8.xml" Id="Ra310d01cd1db4c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ac672b6e2433b" /><Relationship Type="http://schemas.openxmlformats.org/officeDocument/2006/relationships/notesSlide" Target="/ppt/notesSlides/notesSlide9.xml" Id="R476ef4b67eac44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be1caeac14c1e" /><Relationship Type="http://schemas.openxmlformats.org/officeDocument/2006/relationships/notesSlide" Target="/ppt/notesSlides/notesSlide10.xml" Id="R74dbeacdc7e749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285bd220b4a63" /><Relationship Type="http://schemas.openxmlformats.org/officeDocument/2006/relationships/notesSlide" Target="/ppt/notesSlides/notesSlide11.xml" Id="Rcf3d488bb3b649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95669c574587" /><Relationship Type="http://schemas.openxmlformats.org/officeDocument/2006/relationships/notesSlide" Target="/ppt/notesSlides/notesSlide12.xml" Id="R6eab8ae6352940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d113d5bf48d3" /><Relationship Type="http://schemas.openxmlformats.org/officeDocument/2006/relationships/notesSlide" Target="/ppt/notesSlides/notesSlide13.xml" Id="Rd212753d42c540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82cc079c24d18" /><Relationship Type="http://schemas.openxmlformats.org/officeDocument/2006/relationships/notesSlide" Target="/ppt/notesSlides/notesSlide14.xml" Id="R0debc62530dc4d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d5db432b14dd1" /><Relationship Type="http://schemas.openxmlformats.org/officeDocument/2006/relationships/notesSlide" Target="/ppt/notesSlides/notesSlide15.xml" Id="R7fd9658195894c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c129e82f34943" /><Relationship Type="http://schemas.openxmlformats.org/officeDocument/2006/relationships/image" Target="/ppt/media/image3.png" Id="Rb9bbac307ead4bcf" /><Relationship Type="http://schemas.openxmlformats.org/officeDocument/2006/relationships/notesSlide" Target="/ppt/notesSlides/notesSlide16.xml" Id="R908d5bb27c89459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64e8778840eb" /><Relationship Type="http://schemas.openxmlformats.org/officeDocument/2006/relationships/notesSlide" Target="/ppt/notesSlides/notesSlide17.xml" Id="R0979fb5d34c14a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36bcdfab844db" /><Relationship Type="http://schemas.openxmlformats.org/officeDocument/2006/relationships/notesSlide" Target="/ppt/notesSlides/notesSlide18.xml" Id="R45f42e61015243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85737cb9d47c1" /><Relationship Type="http://schemas.openxmlformats.org/officeDocument/2006/relationships/notesSlide" Target="/ppt/notesSlides/notesSlide19.xml" Id="R2c385e9790a84b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51f25a19041c4" /><Relationship Type="http://schemas.openxmlformats.org/officeDocument/2006/relationships/notesSlide" Target="/ppt/notesSlides/notesSlide20.xml" Id="R6fb4f70a47ff426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134fe94d74c21" /><Relationship Type="http://schemas.openxmlformats.org/officeDocument/2006/relationships/notesSlide" Target="/ppt/notesSlides/notesSlide21.xml" Id="R0a515f649bc248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ae25805494bd8" /><Relationship Type="http://schemas.openxmlformats.org/officeDocument/2006/relationships/image" Target="/ppt/media/image4.png" Id="R296ba790729e490b" /><Relationship Type="http://schemas.openxmlformats.org/officeDocument/2006/relationships/notesSlide" Target="/ppt/notesSlides/notesSlide22.xml" Id="Reca1920287b240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fd3e950b74205" /><Relationship Type="http://schemas.openxmlformats.org/officeDocument/2006/relationships/notesSlide" Target="/ppt/notesSlides/notesSlide23.xml" Id="R62f9da026eda48d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03b49e99543d9" /><Relationship Type="http://schemas.openxmlformats.org/officeDocument/2006/relationships/notesSlide" Target="/ppt/notesSlides/notesSlide24.xml" Id="R0cc27179729040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fbed1284e49c9" /><Relationship Type="http://schemas.openxmlformats.org/officeDocument/2006/relationships/notesSlide" Target="/ppt/notesSlides/notesSlide25.xml" Id="R7121abe0ce18471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5997beb44238" /><Relationship Type="http://schemas.openxmlformats.org/officeDocument/2006/relationships/image" Target="/ppt/media/image5.png" Id="Rd9ab90a5e1834457" /><Relationship Type="http://schemas.openxmlformats.org/officeDocument/2006/relationships/notesSlide" Target="/ppt/notesSlides/notesSlide26.xml" Id="Rf52b1796a85f421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48e8671394888" /><Relationship Type="http://schemas.openxmlformats.org/officeDocument/2006/relationships/notesSlide" Target="/ppt/notesSlides/notesSlide27.xml" Id="R4ef03ff2a70f4e5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1795c424425a" /><Relationship Type="http://schemas.openxmlformats.org/officeDocument/2006/relationships/image" Target="/ppt/media/image6.png" Id="Rba7e420292a64318" /><Relationship Type="http://schemas.openxmlformats.org/officeDocument/2006/relationships/notesSlide" Target="/ppt/notesSlides/notesSlide28.xml" Id="Re4dc49e5449740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7afc599fd42bc" /><Relationship Type="http://schemas.openxmlformats.org/officeDocument/2006/relationships/notesSlide" Target="/ppt/notesSlides/notesSlide29.xml" Id="R68f47aaa3d4c4e2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812c7a7cf442d" /><Relationship Type="http://schemas.openxmlformats.org/officeDocument/2006/relationships/notesSlide" Target="/ppt/notesSlides/notesSlide30.xml" Id="R4119f280c2fc4b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5233728f64a95" /><Relationship Type="http://schemas.openxmlformats.org/officeDocument/2006/relationships/notesSlide" Target="/ppt/notesSlides/notesSlide31.xml" Id="Rf212649f5de043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F6366-A50C-49BE-9FB8-E1AE66FB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A9A40-5E7A-4779-8567-2728BC64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3C6D8"/>
                </a:solidFill>
                <a:latin typeface="Microsoft JhengHei"/>
                <a:ea typeface="Microsoft JhengHei"/>
                <a:cs typeface="Microsoft JhengHei"/>
              </a:rPr>
              <a:t>第四週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95E56-4D56-4D90-B846-10564DDF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CSS 基礎與 DIV 比例版面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8C2F4-FBE0-4DD3-A3C4-1FB112B5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C8D7E1"/>
                </a:solidFill>
                <a:latin typeface="Microsoft JhengHei"/>
                <a:ea typeface="Microsoft JhengHei"/>
                <a:cs typeface="Microsoft JhengHei"/>
              </a:rPr>
              <a:t>選擇器、盒模型、百分比寬度與雙欄配置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E9F27-A288-437F-B0B8-1733F334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0"/>
            <a:ext cx="42672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0B172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28E57-ED82-4A85-8C4C-B3C0E16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F4783-B1A0-4C71-AE0B-D6DA60B5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3E22F-7541-4E94-9348-C9EBB697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90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6428C-ACE2-4367-95FA-FCA71338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7670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.layout {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width: 86%;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.content { width: 65%; }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.form { width: 35%;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EACB3-E554-4DB8-A746-181B95B9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C3B7"/>
                </a:solidFill>
                <a:latin typeface="Microsoft JhengHei"/>
                <a:ea typeface="Microsoft JhengHei"/>
                <a:cs typeface="Microsoft JhengHei"/>
              </a:rPr>
              <a:t>課堂作品：為第三週活動報名頁加入樣式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71691-1F17-4912-8585-694D7A3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網頁程式設計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A957B-9F5A-481A-B16C-BE394304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6310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B5DC5-B05A-46AE-8259-72FFFF90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33A4D-BA72-404F-A862-75ECCAE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B9292-781A-45AC-9035-874B780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6FE84-F41D-4663-B486-C829633E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課程導覽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A33BB-0C13-41E2-A25B-00E07EE4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0CA08-B030-4F94-AA48-E192D5AE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3276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6E03C-3458-476F-8436-57C6561A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00:00–01:20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635A5-1C8E-4AD9-B6D1-489107E1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CSS 語法與選擇器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0406F-8F7B-4276-B718-BF9374E5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連結 CSS、選取元素、實作一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25A82-3F99-494E-BD80-CC57FFF9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2457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C718A-EACD-45B4-86F4-52258227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01:20–01:30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58C31-BCD2-40A1-BE75-40D671C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檢查與休息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D62EB-59D7-4F03-9FAA-222637D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互測樣式與選擇器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86381-77E9-4633-9B4B-CAC5F6F5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800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1CD1A-E808-4468-99A8-660A74D6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01:30–03:00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CF4F9-2B4E-460B-B8FB-DC270F7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DIV 比例與雙欄版面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F1B07-98CD-4B70-A254-CAC1DE2E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800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盒模型、百分比、flex、實作二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4E35C-B349-488A-9EF3-5509FF19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今天的重點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C7BA6-0C87-45C8-AAD4-E6DB7FCE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先選對元素，再設定尺寸與樣式，最後處理排列方式。</a:t>
            </a:r>
          </a:p>
        </p:txBody>
      </p:sp>
    </p:spTree>
    <p:extLst>
      <p:ext uri="{BB962C8B-B14F-4D97-AF65-F5344CB8AC3E}">
        <p14:creationId xmlns:p14="http://schemas.microsoft.com/office/powerpoint/2010/main" val="74091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C9C83-A5FB-4632-9DEF-3906C533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C77F4-FE8F-4B88-9CC5-27123AB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本週學習目標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A1E29-EC97-4D6C-8B34-466C343B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BC828-8F01-4EC0-B19B-B1D7E16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3F318-F3AA-4110-B7CA-D4F7FFC8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30C20-EF66-48C9-8DD8-A826A491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590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使用外部 CSS 檔案設定網頁樣式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理解元素、class、id 與後代選擇器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說明層疊順序與基本優先權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理解 width 百分比與父元素的關係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利用 flex 將兩個 div 排成比例雙欄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A51AB-2E6D-42F8-B302-8E4E3656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24000"/>
            <a:ext cx="396240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0D71D-3F3B-44C8-BDAD-43F4599E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課堂成果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68279-894D-4905-AB74-B740CD75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65%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BED90-B1BC-4859-8356-11CD39D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18200-6A30-472A-A942-32106DC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42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8755-3973-4252-8A88-AF1D0CA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報名表單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815DC-741E-496A-ACCB-EF527C8F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67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同一列、可讀、可操作</a:t>
            </a:r>
          </a:p>
        </p:txBody>
      </p:sp>
    </p:spTree>
    <p:extLst>
      <p:ext uri="{BB962C8B-B14F-4D97-AF65-F5344CB8AC3E}">
        <p14:creationId xmlns:p14="http://schemas.microsoft.com/office/powerpoint/2010/main" val="1947096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23E19-A537-4711-956D-AD57236A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85ABA-2774-4F9D-88D2-FDE96C0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同一份 HTML 可以呈現不同外觀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6ECED-0570-41CD-9313-E867EFF6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70F01-DC7C-4F05-80D6-1E73E01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C3F64-21F7-4430-9C9B-4BF1269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d2611217a4eaf"/>
          <a:stretch xmlns:a="http://schemas.openxmlformats.org/drawingml/2006/main"/>
        </p:blipFill>
        <p:spPr>
          <a:xfrm xmlns:a="http://schemas.openxmlformats.org/drawingml/2006/main">
            <a:off x="533400" y="2008584"/>
            <a:ext cx="5219700" cy="2936081"/>
          </a:xfrm>
          <a:prstGeom xmlns:a="http://schemas.openxmlformats.org/drawingml/2006/main" prst="roundRect">
            <a:avLst>
              <a:gd name="adj" fmla="val 3382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6861d412a4885"/>
          <a:stretch xmlns:a="http://schemas.openxmlformats.org/drawingml/2006/main"/>
        </p:blipFill>
        <p:spPr>
          <a:xfrm xmlns:a="http://schemas.openxmlformats.org/drawingml/2006/main">
            <a:off x="6076950" y="1906786"/>
            <a:ext cx="5581650" cy="3139678"/>
          </a:xfrm>
          <a:prstGeom xmlns:a="http://schemas.openxmlformats.org/drawingml/2006/main" prst="roundRect">
            <a:avLst>
              <a:gd name="adj" fmla="val 33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500A6-362B-492E-8533-6B3CA108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388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只有 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EC170-EE92-4C85-A9CE-DD437ED7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388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加入 CSS 與比例版面</a:t>
            </a:r>
          </a:p>
        </p:txBody>
      </p:sp>
    </p:spTree>
    <p:extLst>
      <p:ext uri="{BB962C8B-B14F-4D97-AF65-F5344CB8AC3E}">
        <p14:creationId xmlns:p14="http://schemas.microsoft.com/office/powerpoint/2010/main" val="583157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A6976-88D6-4624-A046-972F173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6B67A-3549-4CE8-856C-230E0B71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CSS 描述元素應該如何呈現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6F3DF-2088-4033-9950-EC013A6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24C0D-71D8-4ECA-95F9-73E144D3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C278B-AB9A-47BC-80FD-7CBF6A73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FD365-02CF-4EB0-8083-CE951F6C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857500" cy="3048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9BA74-B98D-4FF7-954C-42F3CE14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A7A3E-EDE3-440C-BB8F-F4CE8510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329C6-A83C-49FE-BA86-7B2306B1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這是什麼內容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C6D2A-B259-42B1-A8FE-D8DDF0A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h1、p、form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7EAB0-912E-430F-B405-586D44AD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2857500" cy="3048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B428F-3CBB-4194-AF2D-AD801A26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335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65BD8-AD2D-48ED-A0B3-C27EC284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90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EF92F-5F9A-4A18-88E7-D214731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內容如何顯示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B6553-6AE5-4B00-9A07-3F185E1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顏色、寬度、間距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C5B0B-BFA2-467B-92A6-66C88322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857500" cy="3048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8123B-18A1-4E1B-8703-F89D5DE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33550"/>
            <a:ext cx="2857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145C8-E632-42C3-8D7C-A2279020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39E8B-08F5-4596-A7DD-65E141A6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52750"/>
            <a:ext cx="2324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合併規則並畫出畫面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9910F-484C-4379-939E-B2FDA93C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計算後的結果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9C91A-E61A-4ECF-893D-05D6E65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CSS 不會改變內容的語意，只改變呈現方式。</a:t>
            </a:r>
          </a:p>
        </p:txBody>
      </p:sp>
    </p:spTree>
    <p:extLst>
      <p:ext uri="{BB962C8B-B14F-4D97-AF65-F5344CB8AC3E}">
        <p14:creationId xmlns:p14="http://schemas.microsoft.com/office/powerpoint/2010/main" val="282004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B31A1-70CB-4EDB-819A-23E9B7B5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F5265-9704-4633-8515-D2679580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外部 CSS 檔案適合正式練習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D63F8-986A-4323-8F10-4CEAF82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0F1A0-6B60-460B-B523-1794314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33BF6-5329-4973-B0B9-5489D5E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9CFB2-B787-4348-91F5-E06046A5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03388-E224-4560-BC66-D530D9BD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197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62511-558C-4E80-9D0E-E8AB9061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2D98B-59D4-40C0-B8FC-D13EF598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A74EF-B094-4114-A6E6-3E388EAA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009D7-B334-46B8-9D69-69AB4F0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&lt;head&gt;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&lt;meta charset="UTF-8"&gt;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&lt;title&gt;前端入門工作坊&lt;/title&gt;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&lt;link rel="stylesheet" href="style.css"&gt;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&lt;/head&gt;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904E8-2409-487C-AE85-32593D9A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style.css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06DFF-7679-4817-B79C-726E4C3E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52197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98182-89D3-41E3-BB64-A461BEE8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194FA-30FF-4072-95AF-2A5DF78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B7249-0595-4DCD-9C45-34881489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E21EC-FB86-4C09-8F64-0CB61D7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body {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color: #17324d;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background-color: #f7f4ed;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96A32-3861-4AA5-BA78-A0BD0084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兩個檔案放在同一資料夾時，href 可以直接寫 style.css。</a:t>
            </a:r>
          </a:p>
        </p:txBody>
      </p:sp>
    </p:spTree>
    <p:extLst>
      <p:ext uri="{BB962C8B-B14F-4D97-AF65-F5344CB8AC3E}">
        <p14:creationId xmlns:p14="http://schemas.microsoft.com/office/powerpoint/2010/main" val="57091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35D9E-BE75-447E-99F1-2DB58326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F7DDB-80E3-443E-B4D6-AFCE7467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一條 CSS 規則包含選擇器與宣告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C09F5-AF6C-44AF-A6E2-C11AC2E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7EE19-D429-46FF-ACB5-84EB8D8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5D094-6DB2-499A-86CA-15B67187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E66F1-E7C7-4B11-BAD4-95ACC507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02108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C5BE3-D76F-48E2-AAC4-9A70112D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05922-DACC-4882-964D-6096BD95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E2F8F-F952-43E6-B0AE-F6B3C08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66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A9D82-EBEF-48D0-9188-F293892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97536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 {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color: #17324d;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font-size: 18px;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5BF66-9752-4DB0-9911-D58CC3F4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2000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B4921-9A90-40CB-A339-B40E5428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529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選擇器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40368-63D0-4EAA-BB3C-8B2C13CC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選到所有 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9B8E9-C53E-4A31-8C00-CB6B5199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25717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33EFB-E7DE-479E-9B73-62A2F35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5295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屬性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0B2BC-E236-4740-A30A-6571784F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0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color、font-size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21DB-BD3B-4971-9131-52611F7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3143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4ADE6-010E-4A25-8BC0-A139E94B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52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1341D-D874-42BB-B902-125A35B2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015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#17324d、18px</a:t>
            </a:r>
          </a:p>
        </p:txBody>
      </p:sp>
    </p:spTree>
    <p:extLst>
      <p:ext uri="{BB962C8B-B14F-4D97-AF65-F5344CB8AC3E}">
        <p14:creationId xmlns:p14="http://schemas.microsoft.com/office/powerpoint/2010/main" val="214657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EB8DAD-7EAF-44F7-91DA-A5D9EC85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19A17-7B28-4E6B-B096-C9B9A42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先掌握常用樣式屬性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A490B-C7F8-4587-93E4-5238369D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F836D-9072-46E9-8C87-6F7D347D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D36CA-7F31-430A-A5B7-5124E89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77B9-4B34-4BDD-B7D0-3BEE87F5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2ECA5-5D8B-4EB1-B5C4-6F418510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屬性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F80C8-0EE1-4B22-92D4-AA578C7E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478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7B07A-60D2-4A1E-B3ED-FD782500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097FD-1C55-4891-835B-1E5D7D2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478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D78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A0E28-FCF6-4B14-8868-DC2F89A2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811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範例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8423E-2191-4A59-99CA-7BED3A7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A02D2-F37F-45A4-9823-035878E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color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B2B22-E9D2-4FA3-9602-64B54167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8FDC5-C8E3-4084-9E5B-B141D71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文字顏色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C6101-D3A8-4E30-ADC7-14B8E31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1DF1B-86DB-4206-8639-D6E9501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717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color: #17324d;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247EA-C23B-41B6-9143-76C27A9A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1D15D-EC8C-4DB4-82CE-D4FA1FA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background-color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CC876-11E5-44D2-9B28-A5E41599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CCAAF-8D98-4F30-849F-F6C5E71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背景顏色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96CF7-2F56-43AE-A37A-F3D120C2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289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F81DF-321E-4536-AEE4-FFEDDC90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background-color: #f7f4ed;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92557-5F35-4040-B0C7-BDBE520F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3FFA4-9391-48BB-A72B-F279D48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font-size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03153-A6AC-4017-A504-67CEF42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E37C52-F705-4E5E-BE77-608084F9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528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文字大小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2F63B-113D-4155-98BE-DA770249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14AE7F-8BD6-4ECF-A0FA-A7B8567E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528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font-size: 18px;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7B39B3-66F8-4F38-8F4D-AC93692F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A35BD-7FDC-4C29-A45E-55A9E73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width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E6993-1482-4C3B-A12B-E6EF9993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100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65619-223D-4C8B-8186-218FB81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元素寬度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C97B1-7D6C-47AA-83E1-C4C9538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1189C-82FF-4A22-BC15-ECB8D105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width: 80%;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D25ADC-ECBA-455C-B0E2-2F5AFABA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F3D5DE-1DC1-4B76-9488-0B75D1D6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margin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6AE949-81DE-4EE0-B70B-352C2AE5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30BC5C-4A1C-4CC1-924B-3AD906DB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339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元素外側距離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8592CA-192D-4051-94B2-35F3425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16E994-D0FE-4A98-981C-1D73C3C6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39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margin: 20px;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543C6-97F3-45F4-97D6-857F5386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117DC3-9BD5-4CA1-9340-94631964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padding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D71D27-5C27-4B48-8231-04650F5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911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5F69B4-4A99-4AE8-A807-11786FD3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244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內容與邊框距離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29A1AC-F4EB-4B73-817E-8DF39AA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3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C511C8-16D7-45D3-B113-89D6D53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244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padding: 20px;</a:t>
            </a:r>
          </a:p>
        </p:txBody>
      </p:sp>
    </p:spTree>
    <p:extLst>
      <p:ext uri="{BB962C8B-B14F-4D97-AF65-F5344CB8AC3E}">
        <p14:creationId xmlns:p14="http://schemas.microsoft.com/office/powerpoint/2010/main" val="1992408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48E92-8332-46E3-BBFC-D6CFE5DB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58ACD-7998-4537-BC77-E8301148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選擇器決定哪些元素套用規則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6EFA8-A021-4870-A8A6-E2A7AF5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4906-F04C-45BA-B337-EDDF6895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選擇器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F6993-B6E5-43DD-AA18-9DCE2D0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68F44-DED1-406F-8F94-F43A7B8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324100" cy="31432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5D914-7A9E-40A9-A4E4-FB8F6CF0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5D78"/>
                </a:solidFill>
                <a:latin typeface="Cascadia Mono"/>
                <a:ea typeface="Cascadia Mono"/>
                <a:cs typeface="Cascadia Mono"/>
              </a:defRPr>
            </a:pPr>
            <a:r>
              <a:rPr sz="2325" b="1">
                <a:solidFill>
                  <a:srgbClr val="1F5D78"/>
                </a:solidFill>
                <a:latin typeface="Cascadia Mono"/>
                <a:ea typeface="Cascadia Mono"/>
                <a:cs typeface="Cascadia Mono"/>
              </a:rPr>
              <a:t>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DD9CC-F1CB-4061-9DCC-18556C3F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元素選擇器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B9593-0AC5-472C-B03B-516787FB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所有 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C3D6E-D7C4-4E91-97DC-1DF3D480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2324100" cy="31432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D5104-25D2-4BA1-87AB-BB92D1B9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defRPr>
            </a:pPr>
            <a:r>
              <a:rPr sz="2325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rPr>
              <a:t>.notice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74CCD-D718-44D7-86CB-19DB67B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class 選擇器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96040-1EF5-49F6-A79F-70B7127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29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class="notice"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78B65-2CBB-4C53-9E01-80974F09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2324100" cy="31432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5AA04-559F-48E0-B1DA-337EAD59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pPr>
            <a:r>
              <a:rPr sz="2325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rPr>
              <a:t>#register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AFD0B-488A-4B1E-B1A7-D241FA2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id 選擇器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97A19-09F6-4306-B53F-685E9980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id="register"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C0B65-CF87-4315-9000-F89F65E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76400"/>
            <a:ext cx="2324100" cy="31432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8E8C7-71F6-48FA-B49A-DD723AEA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98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D8DA6"/>
                </a:solidFill>
                <a:latin typeface="Cascadia Mono"/>
                <a:ea typeface="Cascadia Mono"/>
                <a:cs typeface="Cascadia Mono"/>
              </a:defRPr>
            </a:pPr>
            <a:r>
              <a:rPr sz="2325" b="1">
                <a:solidFill>
                  <a:srgbClr val="4D8DA6"/>
                </a:solidFill>
                <a:latin typeface="Cascadia Mono"/>
                <a:ea typeface="Cascadia Mono"/>
                <a:cs typeface="Cascadia Mono"/>
              </a:rPr>
              <a:t>nav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536E4-8F18-4062-9ABE-259609A3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28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後代選擇器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E0A19-AF93-4A56-8593-9A40029C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2905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nav 裡的 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2C53C-F27E-4527-B29C-230D71FF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先問：我要選全部、重複使用的一組、唯一區段，還是某個範圍內的元素？</a:t>
            </a:r>
          </a:p>
        </p:txBody>
      </p:sp>
    </p:spTree>
    <p:extLst>
      <p:ext uri="{BB962C8B-B14F-4D97-AF65-F5344CB8AC3E}">
        <p14:creationId xmlns:p14="http://schemas.microsoft.com/office/powerpoint/2010/main" val="1943359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A8F74-0232-4C1A-893C-76F37F43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4BF00-6A94-4CE4-B9BA-D3A4AAC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元素選擇器會選取同名標籤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41F72-D196-4502-A4AA-61F4EF5B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45A94-2EF3-48BA-9EB1-33E92926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選擇器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C5BB5-5DA0-4068-B002-3F597075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6AF57-021E-41D2-BC31-A861D84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57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E04DB-1B6B-429F-B330-6C4FBB8A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1CA24-F4B9-45F6-B7C0-B77B86F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4B0D4-05EA-4C33-BB3F-7D871B4B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DF853-2B78-463A-8B79-513FBB41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4005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 {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line-height: 1.7;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color: #334e68;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DE58D-FFCD-4820-865F-8B990516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19250"/>
            <a:ext cx="504825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B6808-B1E2-428B-B7F5-DDA1C600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69CD0-45E2-4517-8BF3-F92EEB3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&lt;p&gt;活動介紹&lt;/p&gt;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&lt;p&gt;活動日期&lt;/p&gt;</a:t>
            </a:r>
          </a:p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&lt;p&gt;報名提醒&lt;/p&gt;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BD24B-3B34-4C3E-8F6E-9D98686F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三個 p 都會套用同一條規則。</a:t>
            </a:r>
          </a:p>
        </p:txBody>
      </p:sp>
    </p:spTree>
    <p:extLst>
      <p:ext uri="{BB962C8B-B14F-4D97-AF65-F5344CB8AC3E}">
        <p14:creationId xmlns:p14="http://schemas.microsoft.com/office/powerpoint/2010/main" val="1693310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14D48-CD46-40D1-98E8-ACF05B35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D6E64-5EA9-43E4-ADD0-A9FA356E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class 適合重複使用的樣式角色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26234-2140-49AB-B408-2BB1BDD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44FB3-678C-43D0-BD08-F43D3BF3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選擇器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C3250-71C2-4D5A-93C2-53124117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DBB03-811E-4B37-98A6-0E61FE2E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32FDC-D2A3-465B-A968-8DA97AA8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2197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501C2-9BA2-467E-8CEE-BCFDF9E6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6189D-9F3D-4745-90FA-0D078AB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8A818-81A5-438E-929C-75250B75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70EBB-1ABB-432F-8DC1-F12F23AD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 class="notice"&gt;請攜帶筆記型電腦&lt;/p&gt;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&lt;p class="notice"&gt;名額有限&lt;/p&gt;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D1169-EFE2-4191-9876-D17E91A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66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F93D8-FD0C-4132-858A-8B7E22F9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43100"/>
            <a:ext cx="52197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1812E-294C-4881-825F-35BDA23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EC47D-392E-4191-8E53-50A599D5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ED8D4-3244-4A46-86A7-EAA43E9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16658-C7C5-41F6-BFC4-9BA8A49C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.notice {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padding: 14px;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background-color: #f8ded5;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color: #783c2f;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C64AD-29EF-44E1-919C-DF02EE15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HTML 的 class 不寫點號，CSS 選擇 class 時才在名稱前加 .</a:t>
            </a:r>
          </a:p>
        </p:txBody>
      </p:sp>
    </p:spTree>
    <p:extLst>
      <p:ext uri="{BB962C8B-B14F-4D97-AF65-F5344CB8AC3E}">
        <p14:creationId xmlns:p14="http://schemas.microsoft.com/office/powerpoint/2010/main" val="12949952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FA58E-C631-4EF9-B5FB-AD239AC5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395F0-FBE5-463A-8A4D-33074555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id 適合頁面中的唯一元素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8C648-6898-4458-88F0-9F8B7EA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82A58-244D-4E74-BB80-4EC55E30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選擇器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5101D-16E4-4B3F-86FE-E42B35BC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A1CEA-D6ED-4157-8519-ED5FC679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64770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22FA-CE8D-47B2-A2BE-AF827DCC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47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FFBAA-93AB-4947-9678-F8A55FCB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835EC-847E-4B41-96BA-63D0747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847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05DA9-EA36-4E7B-B10B-70A030DC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33600"/>
            <a:ext cx="6019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&lt;section id="register"&gt;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&lt;h2&gt;活動報名&lt;/h2&gt;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&lt;/section&gt;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#register {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background-color: white;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550A1-7D70-409D-B1C7-4EDBFDCC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pPr>
            <a:r>
              <a:rPr sz="2700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rPr>
              <a:t>#register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DCA9E-D3CB-4108-8AA8-BCB35AF3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同一頁不要重複相同 id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id 也可作為頁面內連結目的地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一般重複樣式優先使用 class</a:t>
            </a:r>
          </a:p>
        </p:txBody>
      </p:sp>
    </p:spTree>
    <p:extLst>
      <p:ext uri="{BB962C8B-B14F-4D97-AF65-F5344CB8AC3E}">
        <p14:creationId xmlns:p14="http://schemas.microsoft.com/office/powerpoint/2010/main" val="2152763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4C3E3-84EA-4139-B523-DA96C2E6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5E2E2-D1E0-4E6C-9A8B-B0681B0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後代選擇器限定規則的作用範圍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15BED-37BE-4947-A0EE-22C149EB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43B8-4BF5-4556-B8ED-F2B95501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CSS 選擇器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73612-842A-4010-BF32-B6F58DA0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C0138-6851-46BB-A3D7-CDC9AC0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BBEE-5C81-4AA1-B441-2AB4FBF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FC309-4D5D-4130-8EBF-EC1ECF0F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8BA8C-756A-428C-A057-2056DF9E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AA75C-CD6F-458B-B695-5A952425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nav a {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color: #f6c8b9;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form label {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font-weight: bold;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8A86B-6950-439C-8170-ECCC792D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573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rPr>
              <a:t>nav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8703E-A528-4494-A8A6-1AA81E8A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907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只選 nav 裡面的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19C56-C5D6-4F79-A679-93E646B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rPr>
              <a:t>form label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99D6C-BB26-4329-841C-FC54272E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只選 form 裡面的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C7711-1D7C-425B-8280-C697E58E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空格表示巢狀範圍，不要求兩個元素緊鄰。</a:t>
            </a:r>
          </a:p>
        </p:txBody>
      </p:sp>
    </p:spTree>
    <p:extLst>
      <p:ext uri="{BB962C8B-B14F-4D97-AF65-F5344CB8AC3E}">
        <p14:creationId xmlns:p14="http://schemas.microsoft.com/office/powerpoint/2010/main" val="198376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175C07-8570-4264-B96D-33A14B59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8FEEC-8D50-404B-893F-93576E7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多條規則同時命中時會比較優先權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0B3D4-B3DD-41ED-8C91-3E4BB029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097AC-EDC4-49B5-AED9-DF639FF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層疊原理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CD0E9-BF47-4F7C-936D-91F6C428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3DF3C-C45C-4902-8D68-B5876E71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8382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DCFF0-9061-4ED1-BCB0-A3FB6B4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行內 style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13215-8349-4E64-B71B-40BAA17D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style="color: red"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53013-A3DA-434E-8041-D747C9A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685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77A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66265-CB75-4AEA-BEAA-129DE05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id 選擇器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AABBF-C6AA-4CFA-963A-774EB332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#register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FFC62-66CC-4D23-901E-54D5D215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334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57A34-69F3-4DCA-8CC3-0839FBD1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class 選擇器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CE9C5-74B6-40AD-B6C7-B62F653B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.notice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59ABE-36B3-4E47-849D-02021369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810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C654B-E912-485C-882A-1B441D5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元素選擇器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CF8EE-D562-40A1-AA47-D364DDFA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291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BDBC0-DAD5-4DD9-B5F7-494306C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相同優先權時，後面出現的規則生效。初學階段先避免 !important。</a:t>
            </a:r>
          </a:p>
        </p:txBody>
      </p:sp>
    </p:spTree>
    <p:extLst>
      <p:ext uri="{BB962C8B-B14F-4D97-AF65-F5344CB8AC3E}">
        <p14:creationId xmlns:p14="http://schemas.microsoft.com/office/powerpoint/2010/main" val="1197791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EBDBA-C0D7-47B4-B64C-50887D52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6288A-E908-4046-A58D-FC88259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實作一：替活動頁加入基本樣式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A3C09-85F9-4249-A1AF-428B7FB7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E8BB2-FDFA-4744-9EF1-8AF04B53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學生實作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DAEC-7E74-4AA2-A0EA-73D4DF93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6A62F-6F0B-4EA0-A96A-1FCA4E1B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13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77071-CB5E-4F15-98F2-179FA1D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571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 style.css 並正確連結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設定 body 的字體、文字色與背景色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使用元素選擇器設定 h1、h2、p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 .notice 並套用到兩個元素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用 nav a 只修改導覽連結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A3FFF-CFBB-438A-A71C-EAD4773B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038600" cy="34861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C64FF-4D56-45DF-833B-E01CA060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完成檢查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54962-3AA3-4F7A-9A0C-A11ECB4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CSS 檔案有載入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class 名稱完全一致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選擇器沒有多餘空格或符號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每個宣告有冒號與分號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重新整理後樣式改變</a:t>
            </a:r>
          </a:p>
        </p:txBody>
      </p:sp>
    </p:spTree>
    <p:extLst>
      <p:ext uri="{BB962C8B-B14F-4D97-AF65-F5344CB8AC3E}">
        <p14:creationId xmlns:p14="http://schemas.microsoft.com/office/powerpoint/2010/main" val="16086533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72C6C-1936-428A-989B-1BC0A03C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A21AF-7D6B-447F-92C7-0BEBB09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選擇器先決定範圍，屬性再改變外觀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059F4-15BB-4760-9E58-6DF957F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E818E-06D6-495A-96A2-7A508B5A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實作檢查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0ECC5-6C87-4580-B450-1001255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bac307ead4bcf"/>
          <a:stretch xmlns:a="http://schemas.openxmlformats.org/drawingml/2006/main"/>
        </p:blipFill>
        <p:spPr>
          <a:xfrm xmlns:a="http://schemas.openxmlformats.org/drawingml/2006/main">
            <a:off x="704850" y="1466255"/>
            <a:ext cx="7486650" cy="4211241"/>
          </a:xfrm>
          <a:prstGeom xmlns:a="http://schemas.openxmlformats.org/drawingml/2006/main" prst="roundRect">
            <a:avLst>
              <a:gd name="adj" fmla="val 311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CD7D-2F66-4C54-BE99-C1CCE79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609850" cy="33337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C715C-49A6-4488-9987-3569AF89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畫面中可以辨認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E32C4-CB51-456D-B33F-31C568F5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057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body 基本色彩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nav a 導覽連結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.site-header 頁首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form label 欄位標題</a:t>
            </a:r>
          </a:p>
        </p:txBody>
      </p:sp>
    </p:spTree>
    <p:extLst>
      <p:ext uri="{BB962C8B-B14F-4D97-AF65-F5344CB8AC3E}">
        <p14:creationId xmlns:p14="http://schemas.microsoft.com/office/powerpoint/2010/main" val="20096935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C8813-A70E-4FC8-A318-E53B42E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9022D-0267-413C-A5D9-633C2EC6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互相檢查與休息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68D04-F5B3-4272-B932-0D06A397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F130-C84F-4B18-AD26-E79393F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10 分鐘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F2FE5-4460-419A-A498-E039AB2C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D70E-0127-4560-8D99-D46B50D5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33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前 5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2A285-6F3F-478A-B6DA-DA867C23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交換檢查 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84782-20B2-4C5D-A8D5-C92EFCDD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移除一條規則觀察影響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找出一個可改用 class 的地方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確認外部 CSS 路徑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575BD-753C-47BB-B0B5-29643495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F7C37-52AD-4E52-8CF2-FA625F5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33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後 5 分鐘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985B3-3334-42EC-94A2-F5DF72E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離開座位休息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A3277-D756-4ED4-B74F-D32CBE1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回來後開始處理 div 寬度、盒模型與雙欄排列。</a:t>
            </a:r>
          </a:p>
        </p:txBody>
      </p:sp>
    </p:spTree>
    <p:extLst>
      <p:ext uri="{BB962C8B-B14F-4D97-AF65-F5344CB8AC3E}">
        <p14:creationId xmlns:p14="http://schemas.microsoft.com/office/powerpoint/2010/main" val="6401027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98740-1D6E-4FD3-A0C0-8A30D3F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46060-39A5-4CB0-B6A7-975A30C1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div 預設是區塊元素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7B2C8-8BF1-47D5-8664-B07D915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68563-D32C-4C43-BEA7-FAC23CE3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DIV 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F2E3D-B9A3-4559-91A0-3D55DA07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1B5B3-1D49-4637-A1FD-4D1DC287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149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6DFAD-FAA4-454B-BAFE-B1357A3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139BA-92F9-4E18-9C2B-5250F1E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9D898-8393-405F-8A88-77F3DD2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429E1-889F-4D07-B9FB-5A809830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&lt;div class="sidebar"&gt;30%&lt;/div&gt;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&lt;div class="content"&gt;70%&lt;/div&gt;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65AF6-5CFA-4B2A-902B-A4D5BD13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286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1F5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A0514-0065-4BAC-8C47-3EFB5E78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sidebar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69667-732A-4B20-B820-F2719BF9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286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DDFDD-8390-4034-96D9-954BD9C3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9A73A-C2C4-4029-900A-74C53861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即使設定 30% 與 70%，兩個 div 預設仍各自換行。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D903A-AE43-42F7-A498-31D6DD6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寬度控制尺寸，排列方式要另外設定。</a:t>
            </a:r>
          </a:p>
        </p:txBody>
      </p:sp>
    </p:spTree>
    <p:extLst>
      <p:ext uri="{BB962C8B-B14F-4D97-AF65-F5344CB8AC3E}">
        <p14:creationId xmlns:p14="http://schemas.microsoft.com/office/powerpoint/2010/main" val="11599818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CAFB1-72D9-4D65-B7A6-FFD94FEC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E762-7307-4652-9471-67805EF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盒模型決定元素實際占用空間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A161C-3E02-4FF6-85C1-43393909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00C9-13F6-4EDB-82F1-56B39746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DIV 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A72EB-D6F6-443D-9B6F-6284F19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9CE2F-F5E9-4C1B-BB5D-E36C85ED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485900"/>
            <a:ext cx="60960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3AF86-2E77-437E-BFAE-EC424520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3D557-F1AD-4D2B-83C7-1D2D35D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9550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9525">
            <a:solidFill>
              <a:srgbClr val="B884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38C52-D1F4-4F77-9A41-3710355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288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5551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755517"/>
                </a:solidFill>
                <a:latin typeface="Microsoft JhengHei"/>
                <a:ea typeface="Microsoft JhengHei"/>
                <a:cs typeface="Microsoft JhengHei"/>
              </a:rPr>
              <a:t>border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D322A-8739-4CDD-92D2-6DDD402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3810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1F5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5E95B-698A-47AE-A562-8286F890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19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padding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B5F6F-7566-4A7F-AFDF-DECA3C9D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2247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4D7F4-C813-4647-96BC-BE2F9027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7FE08-C17C-4A46-A52A-0DC03AEE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width 預設只設定 content 寬度，padding 與 border 可能讓元素變得更寬。</a:t>
            </a:r>
          </a:p>
        </p:txBody>
      </p:sp>
    </p:spTree>
    <p:extLst>
      <p:ext uri="{BB962C8B-B14F-4D97-AF65-F5344CB8AC3E}">
        <p14:creationId xmlns:p14="http://schemas.microsoft.com/office/powerpoint/2010/main" val="14399844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1A18D-AD73-43C5-9A7F-C252296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3F000-CF85-45AE-B862-E997DFAA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box-sizing 讓寬度計算更直覺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6D010-32EB-461E-B4F5-C0F302B7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C7E9B-2BFE-44D8-B37B-D714F1F0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DIV 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6239E-0501-47D0-9609-518E3872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61FAE-035A-4387-9359-A067BBB6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5BD88-46F5-4360-BA22-6F6F7AF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C532A-3CDC-41D9-895D-048B2E7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7ADF8-4926-4DBD-B90E-0A67472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8F8D1-75CB-44F8-A804-F7B1D9D4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4495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* {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box-sizing: border-box;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10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E61E-3BD6-4C86-A962-C6F5F9DA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content-box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053C8-468D-4803-B92E-4F2AFE7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width + padding + border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實際占用空間可能超過設定值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04C6F-81E3-4283-AC64-9C5E9FD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border-box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3B58D-FEC7-4CD4-A5FC-A905F88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width 已包含 padding 與 border</a:t>
            </a:r>
          </a:p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設定 30% 時更容易預測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85FB3-B6DB-4F75-A912-222B86B1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3822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9EF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30DBB-2968-4DD2-ABAB-CA8A6FC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67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7675C"/>
                </a:solidFill>
                <a:latin typeface="Microsoft JhengHei"/>
                <a:ea typeface="Microsoft JhengHei"/>
                <a:cs typeface="Microsoft JhengHei"/>
              </a:rPr>
              <a:t>初學專案可以先在 CSS 最上方設定所有元素使用 border-box。</a:t>
            </a:r>
          </a:p>
        </p:txBody>
      </p:sp>
    </p:spTree>
    <p:extLst>
      <p:ext uri="{BB962C8B-B14F-4D97-AF65-F5344CB8AC3E}">
        <p14:creationId xmlns:p14="http://schemas.microsoft.com/office/powerpoint/2010/main" val="762298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D3D63-7A31-4A77-89EE-4C743BC6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04C4F-F1CA-4FB0-B0A6-54BD9E5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百分比寬度以父元素為基準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94CBF-2DA5-483C-A996-CC1011D2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3711-7FFC-4EE4-87F7-24F5B8C4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DIV 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5A8CE-2FDA-4193-9225-F184EF46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B4AEE-D528-4267-8FBB-BB07C53D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197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8AE55-0C99-40A1-B1EC-40E51DF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70DFD-F627-4B1A-89C8-7478EF4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0061C-C1F0-41A4-800C-5C990073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A98047-B0D6-49E0-8900-EC533B7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.parent { width: 80%; }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202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.child { width: 50%;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C032B-D2AE-4D0F-9CA8-37279D68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19250"/>
            <a:ext cx="44767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1F5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90F47-32E7-4B8D-AF1C-A4926C20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父元素 80%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125CA-209E-4469-9CC6-09553DA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223837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C6B14-10CE-4FF6-B159-CEABC343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子元素 50%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86137-1976-4D78-8EFC-C9C3656F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如果瀏覽器可用寬度是 1000px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B25F5-37B5-45CF-9730-7EA850E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父元素約 800px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5B611-E959-4AB0-9545-61D85F7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38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子元素約 400px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4422B-06FF-477E-824A-BFE67DD9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50% 是父元素的 50%，不是整個瀏覽器的 50%。</a:t>
            </a:r>
          </a:p>
        </p:txBody>
      </p:sp>
    </p:spTree>
    <p:extLst>
      <p:ext uri="{BB962C8B-B14F-4D97-AF65-F5344CB8AC3E}">
        <p14:creationId xmlns:p14="http://schemas.microsoft.com/office/powerpoint/2010/main" val="9605507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92DE5-BA51-48E3-943A-0A1A5E94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2D8CB-57B1-4753-B629-EC0B3E0D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巢狀百分比會逐層縮小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252DB-1B95-48F9-ABF6-22EF133A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A796A-E82A-44FD-BDB5-B43ED74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D6211-2D3D-4CD9-9135-45415B0F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ba790729e490b"/>
          <a:stretch xmlns:a="http://schemas.openxmlformats.org/drawingml/2006/main"/>
        </p:blipFill>
        <p:spPr>
          <a:xfrm xmlns:a="http://schemas.openxmlformats.org/drawingml/2006/main">
            <a:off x="628650" y="1478756"/>
            <a:ext cx="7239000" cy="4071938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6A985-A369-407B-8018-4420DB84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頁面可用寬度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4C5EA-658E-42EB-BCA3-5ED40102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父元素 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534A7-F0DE-41E5-8758-029F26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子元素 50%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D5D02-6A5B-4074-AF6B-88C9E21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孫元素再取 50%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9FC6A4-2C33-420D-BA50-69467F1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每一層都重新看自己的父元素。</a:t>
            </a:r>
          </a:p>
        </p:txBody>
      </p:sp>
    </p:spTree>
    <p:extLst>
      <p:ext uri="{BB962C8B-B14F-4D97-AF65-F5344CB8AC3E}">
        <p14:creationId xmlns:p14="http://schemas.microsoft.com/office/powerpoint/2010/main" val="19902606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CAA64-644F-43B6-BC53-DCB9E7E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657D8-EA9D-4E01-B626-D06D00C3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height 的百分比需要可計算的父高度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5C9B7-7069-4EB1-B8C6-44FB41B7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4CA7D-90E7-433A-AEE8-8CD9B945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DIV 與比例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B3BC6-69B6-4992-931B-881CC76B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70E89-526F-4E81-9220-8DE00FF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2A9D8F"/>
                </a:solidFill>
                <a:latin typeface="Cascadia Mono"/>
                <a:ea typeface="Cascadia Mono"/>
                <a:cs typeface="Cascadia Mono"/>
              </a:rPr>
              <a:t>width: 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9381D-864D-4F97-8395-9F0D1FF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通常能依父元素寬度直接計算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17245-9544-4587-A814-5B482EA5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7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E76F51"/>
                </a:solidFill>
                <a:latin typeface="Cascadia Mono"/>
                <a:ea typeface="Cascadia Mono"/>
                <a:cs typeface="Cascadia Mono"/>
              </a:rPr>
              <a:t>height: 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8B859-BDAA-4BA2-8151-C4B59E2E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6220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父元素若沒有明確高度，結果可能不如預期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01369-AA3B-4FD6-8DD4-4AF88D1C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99060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F3D63-80DE-4DC8-A3C0-9AE24F94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910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83C2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83C2F"/>
                </a:solidFill>
                <a:latin typeface="Microsoft JhengHei"/>
                <a:ea typeface="Microsoft JhengHei"/>
                <a:cs typeface="Microsoft JhengHei"/>
              </a:rPr>
              <a:t>本週先用百分比控制寬度。高度讓內容自然撐開，暫時不要用 height: 100% 修版面。</a:t>
            </a:r>
          </a:p>
        </p:txBody>
      </p:sp>
    </p:spTree>
    <p:extLst>
      <p:ext uri="{BB962C8B-B14F-4D97-AF65-F5344CB8AC3E}">
        <p14:creationId xmlns:p14="http://schemas.microsoft.com/office/powerpoint/2010/main" val="210968406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00977-3E11-4E53-9062-D80EFAD0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24D70-7795-42F2-A64F-A563598F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display: flex 讓子元素排在同一列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7C752-8C21-4445-896E-E36CAAC0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E99E0-0038-4E72-8E45-FA9AC0E5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雙欄版面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1CDBA-CD36-4B0A-82ED-7B47B982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45E05-4CC9-4932-8FDD-4F3D79E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1495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33BF7-82C6-4B8C-AAF8-72D379F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C8F2D-ABBE-45FD-A9F4-8A0B9BBA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0DBC7-3B94-42ED-B0F8-A4270CB7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63AF0-B663-417C-9B3F-D01CD50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8577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.layout {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.sidebar { width: 30%; }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8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.content { width: 70%;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22B19-2F7D-42AD-B598-A782902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76400"/>
            <a:ext cx="1352550" cy="24765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DDEBF2"/>
          </a:solidFill>
          <a:ln xmlns:a="http://schemas.openxmlformats.org/drawingml/2006/main" w="9525">
            <a:solidFill>
              <a:srgbClr val="1F5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07F0F-4EF8-438B-AFF9-9100CA9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9080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E0828-4626-4142-A754-24682700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143250" cy="24765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5A6C6-6D31-4A4E-AA35-A0CE45A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D87E9-D329-4993-88D3-8D813942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flex 設在父元素，width 設在兩個直接子元素。</a:t>
            </a:r>
          </a:p>
        </p:txBody>
      </p:sp>
    </p:spTree>
    <p:extLst>
      <p:ext uri="{BB962C8B-B14F-4D97-AF65-F5344CB8AC3E}">
        <p14:creationId xmlns:p14="http://schemas.microsoft.com/office/powerpoint/2010/main" val="14305087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E847A-FC99-4F4F-B11D-7658A7A2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515DE-0F9D-4740-AB34-96685CF8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30% 與 70% 雙欄的完整結構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4C27E-B957-46C5-AA9D-6F479249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36A8A-3FD5-4E6E-A023-BFB1DB33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雙欄版面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0C6DB-F931-4426-897C-51BBA415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2909C-F724-4983-B4B7-5D7DADF3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1B10B-F857-47F2-ACBF-F352EA6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429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E44BA-8953-4AB4-8D84-859BDF4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AA738-E3C9-470B-AE8C-FB2F24F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0063-C367-42C2-A14E-CFB124A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EF448-6AFB-4844-9B65-F2106627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972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&lt;div class="layout"&gt;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&lt;div class="sidebar"&gt;活動資訊&lt;/div&gt;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&lt;div class="content"&gt;主要內容&lt;/div&gt;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&lt;/div&gt;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ED454-477C-44CA-9A58-46B7EB7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CSS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3ABAD-028B-44ED-A02B-B177DE3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1816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23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AEF6D-4DA2-4E28-9E42-9BCD8C02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DF312-A24A-43AA-8A5C-EA79349A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C4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39C7A-BDE0-4BC7-9D42-30B6783E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D9F2F-648A-4AE9-BC89-0E3B8819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7244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* { box-sizing: border-box;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.layout {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width: 90%;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display: flex;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.sidebar { width: 30%; padding: 28px; }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.content { width: 70%; padding: 28px;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98C82-4B32-489A-B80E-52F6052A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30% + 70% = 父元素內容寬度的 100%。</a:t>
            </a:r>
          </a:p>
        </p:txBody>
      </p:sp>
    </p:spTree>
    <p:extLst>
      <p:ext uri="{BB962C8B-B14F-4D97-AF65-F5344CB8AC3E}">
        <p14:creationId xmlns:p14="http://schemas.microsoft.com/office/powerpoint/2010/main" val="21280887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6556B-336E-44D7-BFD2-98F8B913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6389A-9E4A-4929-88B9-B712FDD8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瀏覽器中的 30% 與 70%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4D262-7FEA-4061-BE9F-1AEA6A7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5D915-57C1-42CF-95D0-73B9341A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68D5-74FF-4387-9F71-59E9219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b90a5e1834457"/>
          <a:stretch xmlns:a="http://schemas.openxmlformats.org/drawingml/2006/main"/>
        </p:blipFill>
        <p:spPr>
          <a:xfrm xmlns:a="http://schemas.openxmlformats.org/drawingml/2006/main">
            <a:off x="1196975" y="1466850"/>
            <a:ext cx="7112000" cy="40005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87953-C05A-42C3-8438-2752BFC0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57350"/>
            <a:ext cx="2000250" cy="30480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7B0CD-C67B-4657-9652-DFEABE1F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檢查順序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00A7F-D7D9-49B6-BF1A-65979ABA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152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1　父元素有 flex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2　子元素寬度合計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3　套用 border-box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4　檢查 padding</a:t>
            </a:r>
          </a:p>
        </p:txBody>
      </p:sp>
    </p:spTree>
    <p:extLst>
      <p:ext uri="{BB962C8B-B14F-4D97-AF65-F5344CB8AC3E}">
        <p14:creationId xmlns:p14="http://schemas.microsoft.com/office/powerpoint/2010/main" val="10308214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E13AA-0FCA-4896-A926-5EC5331E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952D4-46EE-4389-BAA5-AE82047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實作二：活動內容與表單雙欄排版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4FAA1-D727-467C-9CB5-96AAF866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36A99-F830-442F-A8F6-D9508418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學生實作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7F0BB-4062-45A5-8BE3-9BE37E0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B1B54-75D0-47E9-BE05-C0B2F20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22 分鐘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6B36B-FDAA-4D9B-9CCB-8E225A71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810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main 加入 class="page-layout"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活動內容放入 65% 欄位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報名表單放入 35% 欄位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父元素設定 display: flex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所有欄位設定 width: 100%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加入 padding、背景色與基本邊框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5B87-681D-48FF-86CB-19FE8F4F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40386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00C45-DD95-440D-9336-51DAA7D1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卡住時先檢查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6484A-9AA9-490F-A650-7A3950D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3333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class 拼字是否一致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flex 是否設在父元素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兩欄是否為直接子元素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寬度是否合計 100%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是否使用 border-box</a:t>
            </a:r>
          </a:p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□ CSS 是否重新載入</a:t>
            </a:r>
          </a:p>
        </p:txBody>
      </p:sp>
    </p:spTree>
    <p:extLst>
      <p:ext uri="{BB962C8B-B14F-4D97-AF65-F5344CB8AC3E}">
        <p14:creationId xmlns:p14="http://schemas.microsoft.com/office/powerpoint/2010/main" val="10700400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9344F-9E08-40D3-9507-EBC2A18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947E7-91C3-4A57-8497-DA86F06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活動報名頁的完成結果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2EBCC-6C92-44F0-AFB9-702C35F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CFEC5-BB8A-425C-827A-86A4C71D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實際呈現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59E0D-5693-44CC-966C-CE970DB6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e420292a64318"/>
          <a:stretch xmlns:a="http://schemas.openxmlformats.org/drawingml/2006/main"/>
        </p:blipFill>
        <p:spPr>
          <a:xfrm xmlns:a="http://schemas.openxmlformats.org/drawingml/2006/main">
            <a:off x="715433" y="1390650"/>
            <a:ext cx="8094133" cy="4552950"/>
          </a:xfrm>
          <a:prstGeom xmlns:a="http://schemas.openxmlformats.org/drawingml/2006/main" prst="roundRect">
            <a:avLst>
              <a:gd name="adj" fmla="val 292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A50FB-5A3B-45D5-AF58-BA04FFF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65%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ABAAD-72CF-48EC-9B24-0D4525E0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81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活動內容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E47BB-6FF0-478E-BC84-BB8B727C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3375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0578-A917-4C42-8BCA-5A1C8E3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報名表單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45CA1-0046-4008-ADE0-757F5507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101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畫面由 Chrome 實際載入 HTML 與外部 CSS。</a:t>
            </a:r>
          </a:p>
        </p:txBody>
      </p:sp>
    </p:spTree>
    <p:extLst>
      <p:ext uri="{BB962C8B-B14F-4D97-AF65-F5344CB8AC3E}">
        <p14:creationId xmlns:p14="http://schemas.microsoft.com/office/powerpoint/2010/main" val="18363207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45C55F-7984-47C0-B389-5F3D26C9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43322-73FA-4B81-A2FE-6CF5C35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CSS 沒有效果時的檢查順序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79D8F-5156-4E79-81C6-67F12E38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55B28-831D-4052-BF46-7F2DBA94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除錯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6E2DC-AB25-47D1-87FF-7FD3C8C7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A0F65-FDBE-4528-904B-7259864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674F5-F213-448D-9688-3E3B75C6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F9EA7-E4BA-4B17-A409-E9F4A6F4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04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5971A-BB1A-4F53-8A95-B9E4B4B4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style.css 是否存在，link 路徑是否正確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6FFD8-C2B1-4A7E-A80F-98AFB43A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ABF5D-E508-4EF4-89D5-37CBEFD8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447E6-6D5C-4341-957E-5E2D3F7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選擇器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8A1BC-79BC-405A-9054-EE456D53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class 與 id 的符號、拼字是否一致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5D00D-B42B-4712-8925-F31D1BB9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3986C-30F0-4D47-9219-4A17D0E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63886-8DCC-46EA-88FB-5C842F6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19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C6E64-6E18-46B0-AA4A-F3C4CBA3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194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大括號、冒號、分號是否完整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34EC6-8ABA-44FD-A757-48A2329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D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8850E-EB18-4509-90BE-FFD0FDB9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A8B44-708E-4F3F-8A3D-6CC65E62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父子關係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8FCBA-8E7F-48EC-A335-D6A69D9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後代選擇器與 flex 的位置是否正確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D727EB-F232-4937-BAD8-85B2352C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8496F-4163-4CFC-B134-07883C5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22AE3-E172-4716-8F77-C7EF4A57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33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層疊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13C9E-3A91-4AEF-805D-09AA49F7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後面的規則是否覆蓋前面的設定</a:t>
            </a:r>
          </a:p>
        </p:txBody>
      </p:sp>
    </p:spTree>
    <p:extLst>
      <p:ext uri="{BB962C8B-B14F-4D97-AF65-F5344CB8AC3E}">
        <p14:creationId xmlns:p14="http://schemas.microsoft.com/office/powerpoint/2010/main" val="15019451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ADDFE-635E-4AA6-B223-87DAFD63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CC52A-C8B7-4A06-93BE-3C9598E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課堂回顧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85378-F42D-4182-9284-E443B905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B2053-B38E-4153-8D95-39B07D3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快速檢核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7AFC4-DB9E-404C-B427-323A45D0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7E4E7-61D1-4342-90B9-7959610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C1BEF-911E-45D8-812D-65B063E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621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CSS 選擇 class 要使用什麼符號？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F88A8-6AB1-4132-A59E-AE809BD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762B8-7618-49E3-A687-A5ECE4DD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621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nav a 會選到哪些元素？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50C9A-0AD0-4BB7-96BA-94B75FBB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03D74-CC16-4FB6-A8B1-B3D6428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width: 50% 以誰為基準？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36821-872C-44FE-87A1-269A8F3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E36C6-7091-4305-9230-C578E7A8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為什麼 30% 與 70% 的 div 仍可能上下排列？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4AA41-FD50-4225-88D0-CA1859EB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A830A-679A-443F-B9EC-2B033B7A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box-sizing: border-box 解決什麼問題？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4D2F0-1788-4ACF-8ED2-CA1452F1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CE219-AB0E-4154-958F-1FC49ED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67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flex 應該設定在父元素還是子元素？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C66B1-DDA4-4F70-862F-69699125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能說明父元素、子元素與選擇器範圍，就掌握了本週核心。</a:t>
            </a:r>
          </a:p>
        </p:txBody>
      </p:sp>
    </p:spTree>
    <p:extLst>
      <p:ext uri="{BB962C8B-B14F-4D97-AF65-F5344CB8AC3E}">
        <p14:creationId xmlns:p14="http://schemas.microsoft.com/office/powerpoint/2010/main" val="13083325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42584-6723-4980-B6D4-8315E84B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A3B22-92AB-4BC0-8AD3-777949C7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課後作業：雙欄活動頁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7C00A-DEB5-446F-8410-8212AAD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F958A-5191-4F66-A379-7683ED4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課後延伸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4DA7-3996-41CD-97C1-87D16AD1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6788A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3594D-6680-4E5F-BD19-8B21C0D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76F51"/>
                </a:solidFill>
                <a:latin typeface="Microsoft JhengHei"/>
                <a:ea typeface="Microsoft JhengHei"/>
                <a:cs typeface="Microsoft JhengHei"/>
              </a:rPr>
              <a:t>必要條件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3B49-3BD2-4B98-AC0E-3C24F558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66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使用外部 style.css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至少使用元素、class 與後代選擇器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主要內容與次要內容採百分比雙欄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使用 box-sizing: border-box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表單欄位寬度設為父元素的 100%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保留正確的 HTML 語意與 label 配對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5C21F-FB3C-4ED6-8890-F1121D2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086100" cy="33718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7B007-1024-48A5-8101-61A8D30F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A9D8F"/>
                </a:solidFill>
                <a:latin typeface="Microsoft JhengHei"/>
                <a:ea typeface="Microsoft JhengHei"/>
                <a:cs typeface="Microsoft JhengHei"/>
              </a:rPr>
              <a:t>繳交內容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37FA-FF70-473D-B6D2-7094F7F4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9850"/>
            <a:ext cx="2362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index.html</a:t>
            </a:r>
          </a:p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style.css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桌面寬度截圖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一句話說明</a:t>
            </a:r>
          </a:p>
          <a:p xmlns:a="http://schemas.openxmlformats.org/drawingml/2006/main">
            <a:pPr algn="ctr">
              <a:def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為何選擇這個欄位比例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24F45-0570-4C76-A826-F4D6EAC4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F5D78"/>
                </a:solidFill>
                <a:latin typeface="Microsoft JhengHei"/>
                <a:ea typeface="Microsoft JhengHei"/>
                <a:cs typeface="Microsoft JhengHei"/>
              </a:rPr>
              <a:t>作業不要求複雜動畫，也不使用 CSS 框架。</a:t>
            </a:r>
          </a:p>
        </p:txBody>
      </p:sp>
    </p:spTree>
    <p:extLst>
      <p:ext uri="{BB962C8B-B14F-4D97-AF65-F5344CB8AC3E}">
        <p14:creationId xmlns:p14="http://schemas.microsoft.com/office/powerpoint/2010/main" val="2022967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2026-09-18T15:30:18.6890000Z</dcterms:created>
  <dcterms:modified xsi:type="dcterms:W3CDTF">2026-09-18T15:30:18.6890000Z</dcterms:modified>
</coreProperties>
</file>